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Montserra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h1QKRp5uEJIZVRMm37SNkV74Pt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1201CF-4DFE-4E8F-BA79-EB1B1CB7CCAE}">
  <a:tblStyle styleId="{EE1201CF-4DFE-4E8F-BA79-EB1B1CB7CC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Plok-Code/G-rard" TargetMode="External"/><Relationship Id="rId4" Type="http://schemas.openxmlformats.org/officeDocument/2006/relationships/hyperlink" Target="https://github.com/Plok-Code/G-rard" TargetMode="External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hyperlink" Target="https://docs.google.com/spreadsheets/d/1D-OmpMw4ORwwySjaC4S6kJvGq3FqlAy0jmMZwzBzXQI/edit?usp=drive_link" TargetMode="External"/><Relationship Id="rId6" Type="http://schemas.openxmlformats.org/officeDocument/2006/relationships/hyperlink" Target="https://docs.google.com/spreadsheets/d/1D-OmpMw4ORwwySjaC4S6kJvGq3FqlAy0jmMZwzBzXQI/edit?usp=drive_link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drive/folders/1Y1_N4Cfozc7uAGi28I1BoGqBufeQSxzC?usp=drive_link" TargetMode="External"/><Relationship Id="rId10" Type="http://schemas.openxmlformats.org/officeDocument/2006/relationships/hyperlink" Target="https://drive.google.com/drive/folders/1Y1_N4Cfozc7uAGi28I1BoGqBufeQSxzC?usp=drive_link" TargetMode="External"/><Relationship Id="rId13" Type="http://schemas.openxmlformats.org/officeDocument/2006/relationships/hyperlink" Target="https://drive.google.com/drive/folders/1tMH6FCdgc6E-EvQCWm0iqJXL6u0jsDRa?usp=drive_link" TargetMode="External"/><Relationship Id="rId12" Type="http://schemas.openxmlformats.org/officeDocument/2006/relationships/hyperlink" Target="https://drive.google.com/drive/folders/1tMH6FCdgc6E-EvQCWm0iqJXL6u0jsDRa?usp=drive_link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drive/folders/1gy7XuO1t2I9YWQSdvibexTAg7u3ufclz?usp=drive_link" TargetMode="External"/><Relationship Id="rId4" Type="http://schemas.openxmlformats.org/officeDocument/2006/relationships/hyperlink" Target="https://drive.google.com/drive/folders/1gy7XuO1t2I9YWQSdvibexTAg7u3ufclz?usp=drive_link" TargetMode="External"/><Relationship Id="rId9" Type="http://schemas.openxmlformats.org/officeDocument/2006/relationships/hyperlink" Target="https://drive.google.com/drive/folders/1Y1_N4Cfozc7uAGi28I1BoGqBufeQSxzC?usp=drive_link" TargetMode="External"/><Relationship Id="rId15" Type="http://schemas.openxmlformats.org/officeDocument/2006/relationships/hyperlink" Target="https://drive.google.com/file/d/1fztlIM-MIzwEzeykJ3fFCgMsU05sDfR0/view?usp=drive_link" TargetMode="External"/><Relationship Id="rId14" Type="http://schemas.openxmlformats.org/officeDocument/2006/relationships/hyperlink" Target="https://drive.google.com/drive/folders/1tMH6FCdgc6E-EvQCWm0iqJXL6u0jsDRa?usp=drive_link" TargetMode="External"/><Relationship Id="rId17" Type="http://schemas.openxmlformats.org/officeDocument/2006/relationships/hyperlink" Target="https://docs.google.com/spreadsheets/d/1D-OmpMw4ORwwySjaC4S6kJvGq3FqlAy0jmMZwzBzXQI/edit?usp=drive_link" TargetMode="External"/><Relationship Id="rId16" Type="http://schemas.openxmlformats.org/officeDocument/2006/relationships/hyperlink" Target="https://docs.google.com/spreadsheets/d/1D-OmpMw4ORwwySjaC4S6kJvGq3FqlAy0jmMZwzBzXQI/edit?usp=drive_link" TargetMode="External"/><Relationship Id="rId5" Type="http://schemas.openxmlformats.org/officeDocument/2006/relationships/hyperlink" Target="https://drive.google.com/drive/folders/1gy7XuO1t2I9YWQSdvibexTAg7u3ufclz?usp=drive_link" TargetMode="External"/><Relationship Id="rId6" Type="http://schemas.openxmlformats.org/officeDocument/2006/relationships/hyperlink" Target="https://drive.google.com/drive/folders/1-VT2lLzVUGEFPMAuCqAaONgNwNzI_qXp?usp=drive_link" TargetMode="External"/><Relationship Id="rId18" Type="http://schemas.openxmlformats.org/officeDocument/2006/relationships/image" Target="../media/image29.png"/><Relationship Id="rId7" Type="http://schemas.openxmlformats.org/officeDocument/2006/relationships/hyperlink" Target="https://drive.google.com/drive/folders/1-VT2lLzVUGEFPMAuCqAaONgNwNzI_qXp?usp=drive_link" TargetMode="External"/><Relationship Id="rId8" Type="http://schemas.openxmlformats.org/officeDocument/2006/relationships/hyperlink" Target="https://drive.google.com/drive/folders/1-VT2lLzVUGEFPMAuCqAaONgNwNzI_qXp?usp=driv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drive/folders/1Y1_N4Cfozc7uAGi28I1BoGqBufeQSxzC?usp=drive_link" TargetMode="External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drive/folders/1tMH6FCdgc6E-EvQCWm0iqJXL6u0jsDRa?usp=drive_link" TargetMode="External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drive/folders/1gy7XuO1t2I9YWQSdvibexTAg7u3ufclz?usp=drive_link" TargetMode="External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rive.google.com/drive/folders/1-VT2lLzVUGEFPMAuCqAaONgNwNzI_qXp?usp=drive_link" TargetMode="External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mailto:info_gerard@ravi.com" TargetMode="Externa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D6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7525" y="1417200"/>
            <a:ext cx="3628950" cy="25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D6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idx="4294967295" type="title"/>
          </p:nvPr>
        </p:nvSpPr>
        <p:spPr>
          <a:xfrm>
            <a:off x="2170475" y="797800"/>
            <a:ext cx="4652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2"/>
          <p:cNvSpPr txBox="1"/>
          <p:nvPr>
            <p:ph idx="4294967295" type="title"/>
          </p:nvPr>
        </p:nvSpPr>
        <p:spPr>
          <a:xfrm>
            <a:off x="1203975" y="1978818"/>
            <a:ext cx="3035400" cy="15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2 -</a:t>
            </a: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L’équipe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3 -</a:t>
            </a: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Contexte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4 -</a:t>
            </a: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Notre process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5 -</a:t>
            </a: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Choix technologique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6 - </a:t>
            </a: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biblio-tech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2"/>
          <p:cNvSpPr txBox="1"/>
          <p:nvPr>
            <p:ph idx="4294967295" type="title"/>
          </p:nvPr>
        </p:nvSpPr>
        <p:spPr>
          <a:xfrm>
            <a:off x="4332900" y="1978818"/>
            <a:ext cx="10116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9.11 -  </a:t>
            </a:r>
            <a:endParaRPr b="1" sz="1800">
              <a:solidFill>
                <a:srgbClr val="E1DCD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12.14 -</a:t>
            </a:r>
            <a:endParaRPr b="1" sz="1800">
              <a:solidFill>
                <a:srgbClr val="E1DCD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15.16 - </a:t>
            </a:r>
            <a:endParaRPr b="1" sz="1800">
              <a:solidFill>
                <a:srgbClr val="E1DCD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17.19 -  </a:t>
            </a:r>
            <a:endParaRPr b="1" sz="1800">
              <a:solidFill>
                <a:srgbClr val="E1DCD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20 -  </a:t>
            </a:r>
            <a:endParaRPr b="1" sz="1800">
              <a:solidFill>
                <a:srgbClr val="E1DCD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rgbClr val="E1DCD5"/>
                </a:solidFill>
                <a:latin typeface="Montserrat"/>
                <a:ea typeface="Montserrat"/>
                <a:cs typeface="Montserrat"/>
                <a:sym typeface="Montserrat"/>
              </a:rPr>
              <a:t>21 - </a:t>
            </a:r>
            <a:endParaRPr b="1" sz="1800">
              <a:solidFill>
                <a:srgbClr val="E1DCD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b="1" sz="1800">
              <a:solidFill>
                <a:srgbClr val="E1DCD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b="1" sz="1800">
              <a:solidFill>
                <a:srgbClr val="E1DC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2"/>
          <p:cNvSpPr txBox="1"/>
          <p:nvPr>
            <p:ph idx="4294967295" type="title"/>
          </p:nvPr>
        </p:nvSpPr>
        <p:spPr>
          <a:xfrm>
            <a:off x="5344625" y="1978818"/>
            <a:ext cx="3396600" cy="16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Vente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Finances 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Équipes commerciale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Logistique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 Dashboard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fr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 route vers la V2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441632">
            <a:off x="2832224" y="595486"/>
            <a:ext cx="789026" cy="58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2147125" y="494325"/>
            <a:ext cx="46521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L’équipe RAVI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976650" y="2501950"/>
            <a:ext cx="1386300" cy="16488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br>
              <a:rPr b="1" lang="fr" sz="1100">
                <a:solidFill>
                  <a:schemeClr val="lt1"/>
                </a:solidFill>
              </a:rPr>
            </a:br>
            <a:br>
              <a:rPr b="1" lang="fr" sz="1100">
                <a:solidFill>
                  <a:schemeClr val="lt1"/>
                </a:solidFill>
              </a:rPr>
            </a:br>
            <a:r>
              <a:rPr b="1" lang="fr" sz="1100">
                <a:solidFill>
                  <a:schemeClr val="lt1"/>
                </a:solidFill>
              </a:rPr>
              <a:t>Vanessa</a:t>
            </a:r>
            <a:r>
              <a:rPr lang="fr" sz="1100">
                <a:solidFill>
                  <a:schemeClr val="lt1"/>
                </a:solidFill>
              </a:rPr>
              <a:t> </a:t>
            </a:r>
            <a:br>
              <a:rPr lang="fr" sz="11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Data analyst </a:t>
            </a:r>
            <a:br>
              <a:rPr lang="fr" sz="10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-</a:t>
            </a:r>
            <a:br>
              <a:rPr lang="fr" sz="11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Pro de la respiration en carré, tempère et </a:t>
            </a:r>
            <a:r>
              <a:rPr b="1" lang="fr" sz="900">
                <a:solidFill>
                  <a:schemeClr val="lt1"/>
                </a:solidFill>
              </a:rPr>
              <a:t>équilibre le groupe</a:t>
            </a:r>
            <a:r>
              <a:rPr lang="fr" sz="900">
                <a:solidFill>
                  <a:schemeClr val="lt1"/>
                </a:solidFill>
              </a:rPr>
              <a:t>.</a:t>
            </a:r>
            <a:endParaRPr sz="1295">
              <a:solidFill>
                <a:schemeClr val="lt1"/>
              </a:solidFill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86063">
            <a:off x="5685496" y="401807"/>
            <a:ext cx="663617" cy="3880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>
            <p:ph idx="1" type="body"/>
          </p:nvPr>
        </p:nvSpPr>
        <p:spPr>
          <a:xfrm>
            <a:off x="997350" y="2501950"/>
            <a:ext cx="1386300" cy="16488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b="1" lang="fr" sz="1100">
                <a:solidFill>
                  <a:schemeClr val="lt1"/>
                </a:solidFill>
              </a:rPr>
              <a:t>Rayan</a:t>
            </a:r>
            <a:r>
              <a:rPr lang="fr" sz="1100">
                <a:solidFill>
                  <a:schemeClr val="lt1"/>
                </a:solidFill>
              </a:rPr>
              <a:t> </a:t>
            </a:r>
            <a:br>
              <a:rPr lang="fr" sz="11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Data analyst</a:t>
            </a:r>
            <a:br>
              <a:rPr lang="fr" sz="10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-</a:t>
            </a:r>
            <a:br>
              <a:rPr lang="fr" sz="10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Développeur de l’équipe, </a:t>
            </a:r>
            <a:r>
              <a:rPr b="1" lang="fr" sz="900">
                <a:solidFill>
                  <a:schemeClr val="lt1"/>
                </a:solidFill>
              </a:rPr>
              <a:t>code plus vite que son ombre</a:t>
            </a:r>
            <a:r>
              <a:rPr lang="fr" sz="900">
                <a:solidFill>
                  <a:schemeClr val="lt1"/>
                </a:solidFill>
              </a:rPr>
              <a:t> -logique, structuré.</a:t>
            </a:r>
            <a:endParaRPr sz="1295">
              <a:solidFill>
                <a:schemeClr val="lt1"/>
              </a:solidFill>
            </a:endParaRPr>
          </a:p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2487000" y="2501950"/>
            <a:ext cx="1386300" cy="16488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b="1" lang="fr" sz="1100">
                <a:solidFill>
                  <a:schemeClr val="lt1"/>
                </a:solidFill>
              </a:rPr>
              <a:t>Audrey</a:t>
            </a:r>
            <a:r>
              <a:rPr lang="fr" sz="1100">
                <a:solidFill>
                  <a:schemeClr val="lt1"/>
                </a:solidFill>
              </a:rPr>
              <a:t> </a:t>
            </a:r>
            <a:br>
              <a:rPr lang="fr" sz="11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Data analyst</a:t>
            </a:r>
            <a:br>
              <a:rPr lang="fr" sz="10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-</a:t>
            </a:r>
            <a:br>
              <a:rPr lang="fr" sz="11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La touche créative, </a:t>
            </a:r>
            <a:br>
              <a:rPr lang="fr" sz="9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fait en sorte que tout soit aussi </a:t>
            </a:r>
            <a:r>
              <a:rPr b="1" lang="fr" sz="900">
                <a:solidFill>
                  <a:schemeClr val="lt1"/>
                </a:solidFill>
              </a:rPr>
              <a:t>beau que pertinent.</a:t>
            </a:r>
            <a:endParaRPr sz="1295">
              <a:solidFill>
                <a:schemeClr val="lt1"/>
              </a:solidFill>
            </a:endParaRPr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5466300" y="2501950"/>
            <a:ext cx="1386300" cy="16488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b="1" lang="fr" sz="1100">
                <a:solidFill>
                  <a:schemeClr val="lt1"/>
                </a:solidFill>
              </a:rPr>
              <a:t>Idriss</a:t>
            </a:r>
            <a:r>
              <a:rPr lang="fr" sz="1100">
                <a:solidFill>
                  <a:schemeClr val="lt1"/>
                </a:solidFill>
              </a:rPr>
              <a:t> </a:t>
            </a:r>
            <a:br>
              <a:rPr lang="fr" sz="11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Data analyst </a:t>
            </a:r>
            <a:br>
              <a:rPr lang="fr" sz="10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-</a:t>
            </a:r>
            <a:br>
              <a:rPr lang="fr" sz="10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ingénieur et doctorant </a:t>
            </a:r>
            <a:br>
              <a:rPr lang="fr" sz="9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en devenir, </a:t>
            </a:r>
            <a:r>
              <a:rPr b="1" lang="fr" sz="900">
                <a:solidFill>
                  <a:schemeClr val="lt1"/>
                </a:solidFill>
              </a:rPr>
              <a:t>traque le moindre détail</a:t>
            </a:r>
            <a:r>
              <a:rPr lang="fr" sz="900">
                <a:solidFill>
                  <a:schemeClr val="lt1"/>
                </a:solidFill>
              </a:rPr>
              <a:t> avec</a:t>
            </a:r>
            <a:br>
              <a:rPr lang="fr" sz="9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précision .</a:t>
            </a:r>
            <a:endParaRPr sz="1295">
              <a:solidFill>
                <a:schemeClr val="lt1"/>
              </a:solidFill>
            </a:endParaRPr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6955950" y="2501950"/>
            <a:ext cx="1349700" cy="16488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fr" sz="1100">
                <a:solidFill>
                  <a:schemeClr val="lt1"/>
                </a:solidFill>
              </a:rPr>
              <a:t>Gérard</a:t>
            </a:r>
            <a:r>
              <a:rPr lang="fr" sz="1100">
                <a:solidFill>
                  <a:schemeClr val="lt1"/>
                </a:solidFill>
              </a:rPr>
              <a:t>  </a:t>
            </a:r>
            <a:br>
              <a:rPr lang="fr" sz="11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Assistant </a:t>
            </a:r>
            <a:br>
              <a:rPr lang="fr" sz="1000">
                <a:solidFill>
                  <a:schemeClr val="lt1"/>
                </a:solidFill>
              </a:rPr>
            </a:br>
            <a:r>
              <a:rPr lang="fr" sz="1000">
                <a:solidFill>
                  <a:schemeClr val="lt1"/>
                </a:solidFill>
              </a:rPr>
              <a:t>-</a:t>
            </a:r>
            <a:br>
              <a:rPr lang="fr" sz="10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  <a:highlight>
                  <a:srgbClr val="0E3D6F"/>
                </a:highlight>
              </a:rPr>
              <a:t>notre robot, gardien des données et allié technologique du quotidien.</a:t>
            </a:r>
            <a:br>
              <a:rPr lang="fr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3463" y="1659301"/>
            <a:ext cx="921990" cy="1197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6375" y="1732324"/>
            <a:ext cx="929044" cy="1197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4181" y="1659310"/>
            <a:ext cx="929445" cy="1197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60595" y="1666514"/>
            <a:ext cx="1124413" cy="119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95655" y="1666524"/>
            <a:ext cx="927582" cy="1197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4589400" y="-24100"/>
            <a:ext cx="45894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0" y="0"/>
            <a:ext cx="4589400" cy="25719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833800" y="409488"/>
            <a:ext cx="28647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4"/>
          <p:cNvSpPr txBox="1"/>
          <p:nvPr>
            <p:ph idx="1" type="body"/>
          </p:nvPr>
        </p:nvSpPr>
        <p:spPr>
          <a:xfrm>
            <a:off x="931750" y="3454600"/>
            <a:ext cx="2668800" cy="1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fr" sz="950">
                <a:solidFill>
                  <a:srgbClr val="0E3D6F"/>
                </a:solidFill>
              </a:rPr>
            </a:br>
            <a:r>
              <a:rPr lang="fr" sz="950">
                <a:solidFill>
                  <a:srgbClr val="0E3D6F"/>
                </a:solidFill>
              </a:rPr>
              <a:t>Concevoir un </a:t>
            </a:r>
            <a:r>
              <a:rPr b="1" lang="fr" sz="950">
                <a:solidFill>
                  <a:srgbClr val="0E3D6F"/>
                </a:solidFill>
              </a:rPr>
              <a:t>tableau de bord dynamique et actualisable chaque matin</a:t>
            </a:r>
            <a:r>
              <a:rPr lang="fr" sz="950">
                <a:solidFill>
                  <a:srgbClr val="0E3D6F"/>
                </a:solidFill>
              </a:rPr>
              <a:t>, basé sur des </a:t>
            </a:r>
            <a:r>
              <a:rPr b="1" lang="fr" sz="950">
                <a:solidFill>
                  <a:srgbClr val="0E3D6F"/>
                </a:solidFill>
              </a:rPr>
              <a:t>indicateurs clés de performance (KPI)</a:t>
            </a:r>
            <a:r>
              <a:rPr lang="fr" sz="950">
                <a:solidFill>
                  <a:srgbClr val="0E3D6F"/>
                </a:solidFill>
              </a:rPr>
              <a:t> issus d’analyses SQL et intégrés à </a:t>
            </a:r>
            <a:r>
              <a:rPr b="1" lang="fr" sz="950">
                <a:solidFill>
                  <a:srgbClr val="0E3D6F"/>
                </a:solidFill>
              </a:rPr>
              <a:t>Power BI</a:t>
            </a:r>
            <a:r>
              <a:rPr lang="fr" sz="950">
                <a:solidFill>
                  <a:srgbClr val="0E3D6F"/>
                </a:solidFill>
              </a:rPr>
              <a:t>.</a:t>
            </a:r>
            <a:endParaRPr sz="95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50">
              <a:solidFill>
                <a:srgbClr val="0E3D6F"/>
              </a:solidFill>
            </a:endParaRPr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1081150" y="1031713"/>
            <a:ext cx="2370000" cy="1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fr" sz="952">
                <a:solidFill>
                  <a:schemeClr val="lt1"/>
                </a:solidFill>
              </a:rPr>
              <a:t>L’entreprise </a:t>
            </a:r>
            <a:r>
              <a:rPr b="1" lang="fr" sz="952">
                <a:solidFill>
                  <a:schemeClr val="lt1"/>
                </a:solidFill>
              </a:rPr>
              <a:t>Toys &amp; Models</a:t>
            </a:r>
            <a:r>
              <a:rPr lang="fr" sz="952">
                <a:solidFill>
                  <a:schemeClr val="lt1"/>
                </a:solidFill>
              </a:rPr>
              <a:t> commercialise des </a:t>
            </a:r>
            <a:r>
              <a:rPr b="1" lang="fr" sz="952">
                <a:solidFill>
                  <a:schemeClr val="lt1"/>
                </a:solidFill>
              </a:rPr>
              <a:t>modèles réduits </a:t>
            </a:r>
            <a:br>
              <a:rPr b="1" lang="fr" sz="952">
                <a:solidFill>
                  <a:schemeClr val="lt1"/>
                </a:solidFill>
              </a:rPr>
            </a:br>
            <a:r>
              <a:rPr b="1" lang="fr" sz="952">
                <a:solidFill>
                  <a:schemeClr val="lt1"/>
                </a:solidFill>
              </a:rPr>
              <a:t>et maquettes</a:t>
            </a:r>
            <a:r>
              <a:rPr lang="fr" sz="952">
                <a:solidFill>
                  <a:schemeClr val="lt1"/>
                </a:solidFill>
              </a:rPr>
              <a:t> à destination de collectionneurs et passionnés.</a:t>
            </a:r>
            <a:br>
              <a:rPr lang="fr" sz="952">
                <a:solidFill>
                  <a:schemeClr val="lt1"/>
                </a:solidFill>
              </a:rPr>
            </a:br>
            <a:r>
              <a:rPr lang="fr" sz="952">
                <a:solidFill>
                  <a:schemeClr val="lt1"/>
                </a:solidFill>
              </a:rPr>
              <a:t>Elle dispose d’une </a:t>
            </a:r>
            <a:r>
              <a:rPr b="1" lang="fr" sz="952">
                <a:solidFill>
                  <a:schemeClr val="lt1"/>
                </a:solidFill>
              </a:rPr>
              <a:t>base de données</a:t>
            </a:r>
            <a:r>
              <a:rPr lang="fr" sz="952">
                <a:solidFill>
                  <a:schemeClr val="lt1"/>
                </a:solidFill>
              </a:rPr>
              <a:t> (employés, produits, commandes, clients, paiements, stocks…).</a:t>
            </a:r>
            <a:endParaRPr sz="952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fr" sz="952">
                <a:solidFill>
                  <a:schemeClr val="lt1"/>
                </a:solidFill>
              </a:rPr>
            </a:br>
            <a:endParaRPr sz="952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495">
              <a:solidFill>
                <a:schemeClr val="lt1"/>
              </a:solidFill>
            </a:endParaRPr>
          </a:p>
        </p:txBody>
      </p:sp>
      <p:sp>
        <p:nvSpPr>
          <p:cNvPr id="89" name="Google Shape;89;p4"/>
          <p:cNvSpPr txBox="1"/>
          <p:nvPr>
            <p:ph type="title"/>
          </p:nvPr>
        </p:nvSpPr>
        <p:spPr>
          <a:xfrm>
            <a:off x="5834049" y="481125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Besoin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5834050" y="1026900"/>
            <a:ext cx="2265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fr" sz="952">
                <a:solidFill>
                  <a:srgbClr val="0E3D6F"/>
                </a:solidFill>
              </a:rPr>
              <a:t>Création d’un </a:t>
            </a:r>
            <a:r>
              <a:rPr b="1" lang="fr" sz="952">
                <a:solidFill>
                  <a:srgbClr val="0E3D6F"/>
                </a:solidFill>
              </a:rPr>
              <a:t>tableau de bord interactif</a:t>
            </a:r>
            <a:r>
              <a:rPr lang="fr" sz="952">
                <a:solidFill>
                  <a:srgbClr val="0E3D6F"/>
                </a:solidFill>
              </a:rPr>
              <a:t> permettant de: </a:t>
            </a:r>
            <a:br>
              <a:rPr lang="fr" sz="952">
                <a:solidFill>
                  <a:srgbClr val="0E3D6F"/>
                </a:solidFill>
              </a:rPr>
            </a:br>
            <a:endParaRPr sz="952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495">
              <a:solidFill>
                <a:srgbClr val="0E3D6F"/>
              </a:solidFill>
            </a:endParaRPr>
          </a:p>
        </p:txBody>
      </p:sp>
      <p:sp>
        <p:nvSpPr>
          <p:cNvPr id="91" name="Google Shape;91;p4"/>
          <p:cNvSpPr txBox="1"/>
          <p:nvPr>
            <p:ph type="title"/>
          </p:nvPr>
        </p:nvSpPr>
        <p:spPr>
          <a:xfrm>
            <a:off x="374650" y="2899550"/>
            <a:ext cx="37830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Notre mission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826445" y="1703845"/>
            <a:ext cx="257100" cy="257100"/>
          </a:xfrm>
          <a:prstGeom prst="ellipse">
            <a:avLst/>
          </a:prstGeom>
          <a:solidFill>
            <a:schemeClr val="lt1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>
            <p:ph type="title"/>
          </p:nvPr>
        </p:nvSpPr>
        <p:spPr>
          <a:xfrm>
            <a:off x="6790000" y="1675286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1315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5765500" y="1970502"/>
            <a:ext cx="2403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52">
                <a:solidFill>
                  <a:srgbClr val="0E3D6F"/>
                </a:solidFill>
              </a:rPr>
              <a:t>Suivre </a:t>
            </a:r>
            <a:r>
              <a:rPr lang="fr" sz="952">
                <a:solidFill>
                  <a:srgbClr val="0E3D6F"/>
                </a:solidFill>
              </a:rPr>
              <a:t>la performance de </a:t>
            </a:r>
            <a:br>
              <a:rPr lang="fr" sz="952">
                <a:solidFill>
                  <a:srgbClr val="0E3D6F"/>
                </a:solidFill>
              </a:rPr>
            </a:br>
            <a:r>
              <a:rPr lang="fr" sz="952">
                <a:solidFill>
                  <a:srgbClr val="0E3D6F"/>
                </a:solidFill>
              </a:rPr>
              <a:t>l’entreprise en temps réel.</a:t>
            </a:r>
            <a:br>
              <a:rPr lang="fr" sz="952">
                <a:solidFill>
                  <a:srgbClr val="0E3D6F"/>
                </a:solidFill>
              </a:rPr>
            </a:br>
            <a:br>
              <a:rPr lang="fr" sz="952">
                <a:solidFill>
                  <a:srgbClr val="0E3D6F"/>
                </a:solidFill>
              </a:rPr>
            </a:br>
            <a:endParaRPr sz="952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495">
              <a:solidFill>
                <a:srgbClr val="0E3D6F"/>
              </a:solidFill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838445" y="2628700"/>
            <a:ext cx="257100" cy="257100"/>
          </a:xfrm>
          <a:prstGeom prst="ellipse">
            <a:avLst/>
          </a:prstGeom>
          <a:solidFill>
            <a:schemeClr val="lt1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>
            <p:ph type="title"/>
          </p:nvPr>
        </p:nvSpPr>
        <p:spPr>
          <a:xfrm>
            <a:off x="6802000" y="2604180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1315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4"/>
          <p:cNvSpPr txBox="1"/>
          <p:nvPr>
            <p:ph idx="1" type="body"/>
          </p:nvPr>
        </p:nvSpPr>
        <p:spPr>
          <a:xfrm>
            <a:off x="6072249" y="2897734"/>
            <a:ext cx="1789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52">
                <a:solidFill>
                  <a:srgbClr val="0E3D6F"/>
                </a:solidFill>
              </a:rPr>
              <a:t>Piloter</a:t>
            </a:r>
            <a:r>
              <a:rPr lang="fr" sz="952">
                <a:solidFill>
                  <a:srgbClr val="0E3D6F"/>
                </a:solidFill>
              </a:rPr>
              <a:t> les ventes, la logistique, la finance et les ressources humaines.</a:t>
            </a:r>
            <a:br>
              <a:rPr lang="fr" sz="952">
                <a:solidFill>
                  <a:srgbClr val="0E3D6F"/>
                </a:solidFill>
              </a:rPr>
            </a:br>
            <a:br>
              <a:rPr lang="fr" sz="952">
                <a:solidFill>
                  <a:srgbClr val="0E3D6F"/>
                </a:solidFill>
              </a:rPr>
            </a:br>
            <a:endParaRPr sz="952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495">
              <a:solidFill>
                <a:srgbClr val="0E3D6F"/>
              </a:solidFill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838445" y="3693693"/>
            <a:ext cx="257100" cy="257100"/>
          </a:xfrm>
          <a:prstGeom prst="ellipse">
            <a:avLst/>
          </a:prstGeom>
          <a:solidFill>
            <a:schemeClr val="lt1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>
            <p:ph type="title"/>
          </p:nvPr>
        </p:nvSpPr>
        <p:spPr>
          <a:xfrm>
            <a:off x="6802000" y="3665135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1315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6201999" y="3900350"/>
            <a:ext cx="1530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952">
                <a:solidFill>
                  <a:srgbClr val="0E3D6F"/>
                </a:solidFill>
              </a:rPr>
              <a:t>Identifier</a:t>
            </a:r>
            <a:r>
              <a:rPr lang="fr" sz="952">
                <a:solidFill>
                  <a:srgbClr val="0E3D6F"/>
                </a:solidFill>
              </a:rPr>
              <a:t> les tendances, alertes et leviers de performance</a:t>
            </a:r>
            <a:endParaRPr sz="1495">
              <a:solidFill>
                <a:srgbClr val="0E3D6F"/>
              </a:solidFill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4592" y="2015236"/>
            <a:ext cx="1127450" cy="111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3197610" y="1642725"/>
            <a:ext cx="1430100" cy="2871300"/>
          </a:xfrm>
          <a:prstGeom prst="rect">
            <a:avLst/>
          </a:prstGeom>
          <a:solidFill>
            <a:srgbClr val="E1DCD5">
              <a:alpha val="26666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021818" y="1642725"/>
            <a:ext cx="1430100" cy="2871300"/>
          </a:xfrm>
          <a:prstGeom prst="rect">
            <a:avLst/>
          </a:prstGeom>
          <a:solidFill>
            <a:srgbClr val="E1DCD5">
              <a:alpha val="26666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42750" y="1642725"/>
            <a:ext cx="1430100" cy="2871300"/>
          </a:xfrm>
          <a:prstGeom prst="rect">
            <a:avLst/>
          </a:prstGeom>
          <a:solidFill>
            <a:srgbClr val="E1DCD5">
              <a:alpha val="26666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5"/>
          <p:cNvCxnSpPr/>
          <p:nvPr/>
        </p:nvCxnSpPr>
        <p:spPr>
          <a:xfrm>
            <a:off x="450000" y="2567804"/>
            <a:ext cx="8257800" cy="0"/>
          </a:xfrm>
          <a:prstGeom prst="straightConnector1">
            <a:avLst/>
          </a:prstGeom>
          <a:noFill/>
          <a:ln cap="flat" cmpd="sng" w="9525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5"/>
          <p:cNvSpPr txBox="1"/>
          <p:nvPr>
            <p:ph type="title"/>
          </p:nvPr>
        </p:nvSpPr>
        <p:spPr>
          <a:xfrm>
            <a:off x="2147125" y="494325"/>
            <a:ext cx="46521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Notre process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22745" y="2439254"/>
            <a:ext cx="257100" cy="257100"/>
          </a:xfrm>
          <a:prstGeom prst="ellipse">
            <a:avLst/>
          </a:prstGeom>
          <a:solidFill>
            <a:srgbClr val="0E3D6F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>
            <p:ph type="title"/>
          </p:nvPr>
        </p:nvSpPr>
        <p:spPr>
          <a:xfrm>
            <a:off x="886300" y="2414804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131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0000" y="2841575"/>
            <a:ext cx="11616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rgbClr val="0E3D6F"/>
                </a:solidFill>
              </a:rPr>
              <a:t>Découpage des tâches et définition des outils : </a:t>
            </a:r>
            <a:r>
              <a:rPr b="1" lang="fr" sz="800">
                <a:solidFill>
                  <a:srgbClr val="0E3D6F"/>
                </a:solidFill>
              </a:rPr>
              <a:t>Trello</a:t>
            </a:r>
            <a:r>
              <a:rPr lang="fr" sz="800">
                <a:solidFill>
                  <a:srgbClr val="0E3D6F"/>
                </a:solidFill>
              </a:rPr>
              <a:t> (gestion des tâches), </a:t>
            </a:r>
            <a:r>
              <a:rPr b="1" lang="fr" sz="800">
                <a:solidFill>
                  <a:srgbClr val="0E3D6F"/>
                </a:solidFill>
              </a:rPr>
              <a:t>Google Drive</a:t>
            </a:r>
            <a:r>
              <a:rPr lang="fr" sz="800">
                <a:solidFill>
                  <a:srgbClr val="0E3D6F"/>
                </a:solidFill>
              </a:rPr>
              <a:t> (stockage), </a:t>
            </a:r>
            <a:r>
              <a:rPr b="1" lang="fr" sz="800">
                <a:solidFill>
                  <a:srgbClr val="0E3D6F"/>
                </a:solidFill>
              </a:rPr>
              <a:t>Discord</a:t>
            </a:r>
            <a:r>
              <a:rPr lang="fr" sz="800">
                <a:solidFill>
                  <a:srgbClr val="0E3D6F"/>
                </a:solidFill>
              </a:rPr>
              <a:t> (communication).</a:t>
            </a:r>
            <a:endParaRPr sz="65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50">
              <a:solidFill>
                <a:srgbClr val="0E3D6F"/>
              </a:solidFill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397263" y="2439254"/>
            <a:ext cx="257100" cy="257100"/>
          </a:xfrm>
          <a:prstGeom prst="ellipse">
            <a:avLst/>
          </a:prstGeom>
          <a:solidFill>
            <a:srgbClr val="0E3D6F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 txBox="1"/>
          <p:nvPr>
            <p:ph type="title"/>
          </p:nvPr>
        </p:nvSpPr>
        <p:spPr>
          <a:xfrm>
            <a:off x="2360813" y="2414804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131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1916898" y="2841575"/>
            <a:ext cx="1141200" cy="17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rgbClr val="0E3D6F"/>
                </a:solidFill>
              </a:rPr>
              <a:t>Création de </a:t>
            </a:r>
            <a:r>
              <a:rPr b="1" lang="fr" sz="800">
                <a:solidFill>
                  <a:srgbClr val="0E3D6F"/>
                </a:solidFill>
              </a:rPr>
              <a:t>Gérard</a:t>
            </a:r>
            <a:r>
              <a:rPr lang="fr" sz="800">
                <a:solidFill>
                  <a:srgbClr val="0E3D6F"/>
                </a:solidFill>
              </a:rPr>
              <a:t>, une technologie reliant l’API de Trello et Google Drive à Discord.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rgbClr val="0E3D6F"/>
                </a:solidFill>
              </a:rPr>
              <a:t>Projet rendu </a:t>
            </a:r>
            <a:br>
              <a:rPr lang="fr" sz="8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open source</a:t>
            </a:r>
            <a:r>
              <a:rPr lang="fr" sz="800">
                <a:solidFill>
                  <a:srgbClr val="0E3D6F"/>
                </a:solidFill>
              </a:rPr>
              <a:t> :</a:t>
            </a:r>
            <a:r>
              <a:rPr lang="fr" sz="800">
                <a:solidFill>
                  <a:srgbClr val="0E3D6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fr" sz="800" u="sng">
                <a:solidFill>
                  <a:srgbClr val="0E3D6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github.com/Plok-Code/G-rard</a:t>
            </a:r>
            <a:endParaRPr b="1"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794438" y="2439254"/>
            <a:ext cx="257100" cy="257100"/>
          </a:xfrm>
          <a:prstGeom prst="ellipse">
            <a:avLst/>
          </a:prstGeom>
          <a:solidFill>
            <a:srgbClr val="0E3D6F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>
            <p:ph type="title"/>
          </p:nvPr>
        </p:nvSpPr>
        <p:spPr>
          <a:xfrm>
            <a:off x="3757988" y="2414804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131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3342188" y="2841575"/>
            <a:ext cx="11616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rgbClr val="0E3D6F"/>
                </a:solidFill>
              </a:rPr>
              <a:t>Method KANBAN:</a:t>
            </a:r>
            <a:br>
              <a:rPr lang="fr" sz="8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mise en place des </a:t>
            </a:r>
            <a:r>
              <a:rPr b="1" lang="fr" sz="800">
                <a:solidFill>
                  <a:srgbClr val="0E3D6F"/>
                </a:solidFill>
              </a:rPr>
              <a:t>backlogs</a:t>
            </a:r>
            <a:r>
              <a:rPr lang="fr" sz="800">
                <a:solidFill>
                  <a:srgbClr val="0E3D6F"/>
                </a:solidFill>
              </a:rPr>
              <a:t> pour prioriser les actions.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fr" sz="800">
                <a:solidFill>
                  <a:srgbClr val="0E3D6F"/>
                </a:solidFill>
              </a:rPr>
              <a:t>Répartition des tâches (certaines communes à plusieurs membres).</a:t>
            </a:r>
            <a:endParaRPr b="1" sz="650">
              <a:solidFill>
                <a:srgbClr val="0E3D6F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165566" y="2439254"/>
            <a:ext cx="257100" cy="257100"/>
          </a:xfrm>
          <a:prstGeom prst="ellipse">
            <a:avLst/>
          </a:prstGeom>
          <a:solidFill>
            <a:srgbClr val="0E3D6F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>
            <p:ph type="title"/>
          </p:nvPr>
        </p:nvSpPr>
        <p:spPr>
          <a:xfrm>
            <a:off x="5129116" y="2414804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131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4684516" y="2841575"/>
            <a:ext cx="1219200" cy="17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lang="fr" sz="800">
                <a:solidFill>
                  <a:srgbClr val="0E3D6F"/>
                </a:solidFill>
              </a:rPr>
              <a:t>Étude de la base existante, création d’un </a:t>
            </a:r>
            <a:r>
              <a:rPr b="1" lang="fr" sz="800">
                <a:solidFill>
                  <a:srgbClr val="0E3D6F"/>
                </a:solidFill>
              </a:rPr>
              <a:t>dictionnaire de données</a:t>
            </a:r>
            <a:r>
              <a:rPr lang="fr" sz="800">
                <a:solidFill>
                  <a:srgbClr val="0E3D6F"/>
                </a:solidFill>
              </a:rPr>
              <a:t>, et modélisation selon la </a:t>
            </a:r>
            <a:r>
              <a:rPr b="1" lang="fr" sz="800">
                <a:solidFill>
                  <a:srgbClr val="0E3D6F"/>
                </a:solidFill>
              </a:rPr>
              <a:t>méthode MERISE</a:t>
            </a:r>
            <a:r>
              <a:rPr lang="fr" sz="800">
                <a:solidFill>
                  <a:srgbClr val="0E3D6F"/>
                </a:solidFill>
              </a:rPr>
              <a:t> pour évaluer la qualité et la structure de la DB.</a:t>
            </a:r>
            <a:endParaRPr b="1" sz="800">
              <a:solidFill>
                <a:srgbClr val="0E3D6F"/>
              </a:solidFill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605675" y="2439254"/>
            <a:ext cx="257100" cy="257100"/>
          </a:xfrm>
          <a:prstGeom prst="ellipse">
            <a:avLst/>
          </a:prstGeom>
          <a:solidFill>
            <a:srgbClr val="0E3D6F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>
            <p:ph type="title"/>
          </p:nvPr>
        </p:nvSpPr>
        <p:spPr>
          <a:xfrm>
            <a:off x="6569225" y="2414804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131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6182825" y="2841575"/>
            <a:ext cx="1102800" cy="17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lang="fr" sz="800">
                <a:solidFill>
                  <a:srgbClr val="0E3D6F"/>
                </a:solidFill>
              </a:rPr>
              <a:t>Rédaction des requêtes pour chaque </a:t>
            </a:r>
            <a:r>
              <a:rPr b="1" lang="fr" sz="800">
                <a:solidFill>
                  <a:srgbClr val="0E3D6F"/>
                </a:solidFill>
              </a:rPr>
              <a:t>KPI</a:t>
            </a:r>
            <a:r>
              <a:rPr lang="fr" sz="800">
                <a:solidFill>
                  <a:srgbClr val="0E3D6F"/>
                </a:solidFill>
              </a:rPr>
              <a:t>, clarification des </a:t>
            </a:r>
            <a:r>
              <a:rPr b="1" lang="fr" sz="800">
                <a:solidFill>
                  <a:srgbClr val="0E3D6F"/>
                </a:solidFill>
              </a:rPr>
              <a:t>logiques métiers</a:t>
            </a:r>
            <a:r>
              <a:rPr lang="fr" sz="800">
                <a:solidFill>
                  <a:srgbClr val="0E3D6F"/>
                </a:solidFill>
              </a:rPr>
              <a:t>, formulation d’hypothèses et création de </a:t>
            </a:r>
            <a:r>
              <a:rPr b="1" lang="fr" sz="800">
                <a:solidFill>
                  <a:srgbClr val="0E3D6F"/>
                </a:solidFill>
              </a:rPr>
              <a:t>vues SQL</a:t>
            </a:r>
            <a:r>
              <a:rPr lang="fr" sz="800">
                <a:solidFill>
                  <a:srgbClr val="0E3D6F"/>
                </a:solidFill>
              </a:rPr>
              <a:t> pour faciliter la DataViz.</a:t>
            </a:r>
            <a:endParaRPr b="1" sz="800">
              <a:solidFill>
                <a:srgbClr val="0E3D6F"/>
              </a:solidFill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973050" y="2439254"/>
            <a:ext cx="257100" cy="257100"/>
          </a:xfrm>
          <a:prstGeom prst="ellipse">
            <a:avLst/>
          </a:prstGeom>
          <a:solidFill>
            <a:srgbClr val="0E3D6F"/>
          </a:solidFill>
          <a:ln cap="flat" cmpd="sng" w="24825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550" lIns="59550" spcFirstLastPara="1" rIns="59550" wrap="square" tIns="59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>
            <p:ph type="title"/>
          </p:nvPr>
        </p:nvSpPr>
        <p:spPr>
          <a:xfrm>
            <a:off x="7936600" y="2414804"/>
            <a:ext cx="33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"/>
              <a:buNone/>
            </a:pPr>
            <a:r>
              <a:rPr b="1" lang="fr" sz="131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131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7510450" y="2841575"/>
            <a:ext cx="1182300" cy="17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fr" sz="800">
                <a:solidFill>
                  <a:srgbClr val="0E3D6F"/>
                </a:solidFill>
              </a:rPr>
              <a:t>Conception des </a:t>
            </a:r>
            <a:r>
              <a:rPr b="1" lang="fr" sz="800">
                <a:solidFill>
                  <a:srgbClr val="0E3D6F"/>
                </a:solidFill>
              </a:rPr>
              <a:t>tableaux de bord dynamiques</a:t>
            </a:r>
            <a:r>
              <a:rPr lang="fr" sz="800">
                <a:solidFill>
                  <a:srgbClr val="0E3D6F"/>
                </a:solidFill>
              </a:rPr>
              <a:t> dans Power BI, en mobilisant au besoin le </a:t>
            </a:r>
            <a:r>
              <a:rPr b="1" lang="fr" sz="800">
                <a:solidFill>
                  <a:srgbClr val="0E3D6F"/>
                </a:solidFill>
              </a:rPr>
              <a:t>langage DAX</a:t>
            </a:r>
            <a:r>
              <a:rPr lang="fr" sz="800">
                <a:solidFill>
                  <a:srgbClr val="0E3D6F"/>
                </a:solidFill>
              </a:rPr>
              <a:t> ou du </a:t>
            </a:r>
            <a:r>
              <a:rPr b="1" lang="fr" sz="800">
                <a:solidFill>
                  <a:srgbClr val="0E3D6F"/>
                </a:solidFill>
              </a:rPr>
              <a:t>M</a:t>
            </a:r>
            <a:r>
              <a:rPr lang="fr" sz="800">
                <a:solidFill>
                  <a:srgbClr val="0E3D6F"/>
                </a:solidFill>
              </a:rPr>
              <a:t> pour affiner les indicateurs.</a:t>
            </a:r>
            <a:endParaRPr b="1" sz="800">
              <a:solidFill>
                <a:srgbClr val="0E3D6F"/>
              </a:solidFill>
            </a:endParaRPr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1752113" y="1786538"/>
            <a:ext cx="1547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900">
                <a:solidFill>
                  <a:srgbClr val="0E3D6F"/>
                </a:solidFill>
              </a:rPr>
              <a:t>Centralisation &amp; Automatisation</a:t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342750" y="1786538"/>
            <a:ext cx="14991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3D6F"/>
                </a:solidFill>
              </a:rPr>
              <a:t>Brainstorming &amp; Organisation du travail</a:t>
            </a:r>
            <a:endParaRPr b="1" sz="8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50">
              <a:solidFill>
                <a:srgbClr val="0E3D6F"/>
              </a:solidFill>
            </a:endParaRPr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3149288" y="1786538"/>
            <a:ext cx="15474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" sz="900">
                <a:solidFill>
                  <a:srgbClr val="0E3D6F"/>
                </a:solidFill>
              </a:rPr>
              <a:t>Planification </a:t>
            </a:r>
            <a:br>
              <a:rPr b="1" lang="fr" sz="900">
                <a:solidFill>
                  <a:srgbClr val="0E3D6F"/>
                </a:solidFill>
              </a:rPr>
            </a:br>
            <a:r>
              <a:rPr b="1" lang="fr" sz="900">
                <a:solidFill>
                  <a:srgbClr val="0E3D6F"/>
                </a:solidFill>
              </a:rPr>
              <a:t>&amp; Répartition</a:t>
            </a:r>
            <a:endParaRPr b="1"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b="1" sz="650">
              <a:solidFill>
                <a:srgbClr val="0E3D6F"/>
              </a:solidFill>
            </a:endParaRPr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4756066" y="1786538"/>
            <a:ext cx="10761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b="1" lang="fr" sz="900">
                <a:solidFill>
                  <a:srgbClr val="0E3D6F"/>
                </a:solidFill>
              </a:rPr>
              <a:t>Analyse &amp; Modélisation des données</a:t>
            </a:r>
            <a:endParaRPr b="1" sz="900">
              <a:solidFill>
                <a:srgbClr val="0E3D6F"/>
              </a:solidFill>
            </a:endParaRPr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5960525" y="1786538"/>
            <a:ext cx="15474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b="1" lang="fr" sz="900">
                <a:solidFill>
                  <a:srgbClr val="0E3D6F"/>
                </a:solidFill>
              </a:rPr>
              <a:t>Exploration &amp; </a:t>
            </a:r>
            <a:br>
              <a:rPr b="1" lang="fr" sz="900">
                <a:solidFill>
                  <a:srgbClr val="0E3D6F"/>
                </a:solidFill>
              </a:rPr>
            </a:br>
            <a:r>
              <a:rPr b="1" lang="fr" sz="900">
                <a:solidFill>
                  <a:srgbClr val="0E3D6F"/>
                </a:solidFill>
              </a:rPr>
              <a:t>Requêtes SQL</a:t>
            </a:r>
            <a:endParaRPr b="1" sz="900">
              <a:solidFill>
                <a:srgbClr val="0E3D6F"/>
              </a:solidFill>
            </a:endParaRPr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7327900" y="1786538"/>
            <a:ext cx="15474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b="1" lang="fr" sz="900">
                <a:solidFill>
                  <a:srgbClr val="0E3D6F"/>
                </a:solidFill>
              </a:rPr>
              <a:t>Visualisation </a:t>
            </a:r>
            <a:br>
              <a:rPr b="1" lang="fr" sz="900">
                <a:solidFill>
                  <a:srgbClr val="0E3D6F"/>
                </a:solidFill>
              </a:rPr>
            </a:br>
            <a:r>
              <a:rPr b="1" lang="fr" sz="900">
                <a:solidFill>
                  <a:srgbClr val="0E3D6F"/>
                </a:solidFill>
              </a:rPr>
              <a:t>&amp; Power BI</a:t>
            </a:r>
            <a:endParaRPr b="1" sz="900">
              <a:solidFill>
                <a:srgbClr val="0E3D6F"/>
              </a:solidFill>
            </a:endParaRPr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747" y="1307447"/>
            <a:ext cx="489559" cy="4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-87825" y="-24100"/>
            <a:ext cx="92667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6" title="MCD-projet1-groupe3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900" y="150700"/>
            <a:ext cx="7778099" cy="489169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>
            <p:ph type="title"/>
          </p:nvPr>
        </p:nvSpPr>
        <p:spPr>
          <a:xfrm>
            <a:off x="273375" y="396600"/>
            <a:ext cx="18318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MLD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390875" y="4664150"/>
            <a:ext cx="127800" cy="127800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9525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977250" y="4199000"/>
            <a:ext cx="127800" cy="127800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9525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884875" y="3592525"/>
            <a:ext cx="127800" cy="127800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9525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390875" y="1638625"/>
            <a:ext cx="127800" cy="127800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9525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070475" y="1396600"/>
            <a:ext cx="127800" cy="127800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9525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070475" y="1557375"/>
            <a:ext cx="127800" cy="127800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9525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648450" y="1890225"/>
            <a:ext cx="127800" cy="127800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9525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720204">
            <a:off x="1064771" y="1060892"/>
            <a:ext cx="599427" cy="7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680303" y="4353650"/>
            <a:ext cx="1059300" cy="43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00" lIns="52600" spcFirstLastPara="1" rIns="52600" wrap="square" tIns="52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None/>
            </a:pPr>
            <a:r>
              <a:t/>
            </a:r>
            <a:endParaRPr b="0" i="0" sz="8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7790457" y="4407588"/>
            <a:ext cx="8388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00" lIns="52600" spcFirstLastPara="1" rIns="52600" wrap="square" tIns="52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None/>
            </a:pPr>
            <a:r>
              <a:rPr b="1" i="0" lang="fr" sz="805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Dictionnaire</a:t>
            </a:r>
            <a:endParaRPr b="1" i="0" sz="805" u="none" cap="none" strike="noStrike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5"/>
              <a:buFont typeface="Arial"/>
              <a:buNone/>
            </a:pPr>
            <a:r>
              <a:rPr b="1" i="0" lang="fr" sz="805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 donnés</a:t>
            </a:r>
            <a:endParaRPr b="1" i="0" sz="805" u="none" cap="none" strike="noStrike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type="title"/>
          </p:nvPr>
        </p:nvSpPr>
        <p:spPr>
          <a:xfrm>
            <a:off x="2147125" y="494325"/>
            <a:ext cx="46521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Choix technologique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474000" y="1155700"/>
            <a:ext cx="836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" name="Google Shape;159;p7"/>
          <p:cNvGraphicFramePr/>
          <p:nvPr/>
        </p:nvGraphicFramePr>
        <p:xfrm>
          <a:off x="513938" y="141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{EE1201CF-4DFE-4E8F-BA79-EB1B1CB7CCAE}</a:tableStyleId>
              </a:tblPr>
              <a:tblGrid>
                <a:gridCol w="1722150"/>
                <a:gridCol w="2205350"/>
                <a:gridCol w="2126925"/>
                <a:gridCol w="2061700"/>
              </a:tblGrid>
              <a:tr h="44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fr" sz="800" u="none" cap="none" strike="noStrike">
                          <a:solidFill>
                            <a:schemeClr val="lt1"/>
                          </a:solidFill>
                        </a:rPr>
                        <a:t>Outil</a:t>
                      </a:r>
                      <a:endParaRPr b="1"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D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fr" sz="800" u="none" cap="none" strike="noStrike">
                          <a:solidFill>
                            <a:schemeClr val="lt1"/>
                          </a:solidFill>
                        </a:rPr>
                        <a:t>+ Avantages</a:t>
                      </a:r>
                      <a:endParaRPr b="1"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D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fr" sz="800" u="none" cap="none" strike="noStrike">
                          <a:solidFill>
                            <a:schemeClr val="lt1"/>
                          </a:solidFill>
                        </a:rPr>
                        <a:t>- Inconvénients</a:t>
                      </a:r>
                      <a:endParaRPr b="1"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D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fr" sz="800" u="none" cap="none" strike="noStrike">
                          <a:solidFill>
                            <a:schemeClr val="lt1"/>
                          </a:solidFill>
                        </a:rPr>
                        <a:t>Pour qui</a:t>
                      </a:r>
                      <a:endParaRPr b="1"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3D6F"/>
                    </a:solidFill>
                  </a:tcPr>
                </a:tc>
              </a:tr>
              <a:tr h="4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chemeClr val="lt1"/>
                          </a:solidFill>
                        </a:rPr>
                        <a:t>Power BI</a:t>
                      </a:r>
                      <a:endParaRPr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6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chemeClr val="lt1"/>
                          </a:solidFill>
                        </a:rPr>
                        <a:t>Intégré Microsoft, bon rapport coût/fonction, partage sécurisé</a:t>
                      </a:r>
                      <a:endParaRPr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6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chemeClr val="lt1"/>
                          </a:solidFill>
                        </a:rPr>
                        <a:t>DAX/M à apprendre</a:t>
                      </a:r>
                      <a:endParaRPr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6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chemeClr val="lt1"/>
                          </a:solidFill>
                        </a:rPr>
                        <a:t>Org. déjà sous M365 / Azure</a:t>
                      </a:r>
                      <a:endParaRPr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8612"/>
                    </a:solidFill>
                  </a:tcPr>
                </a:tc>
              </a:tr>
              <a:tr h="4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Tableau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Viz très qualitatives, exploration fluide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Plus cher, intégration SI + lourde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Équipes data exigeantes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Looker Studio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Gratuit, partage web facile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Limité pour BI d’entreprise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Marketing / reporting web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7"/>
                    </a:solidFill>
                  </a:tcPr>
                </a:tc>
              </a:tr>
              <a:tr h="4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Qlik Sense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Moteur associatif puissant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Moins répandu, prix moins lisible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Analyses exploratoires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Plotly / Dash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Hyper personnalisable (Python)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Besoin dev, pas pour tous les métiers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Data science / apps internes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5F7"/>
                    </a:solidFill>
                  </a:tcPr>
                </a:tc>
              </a:tr>
              <a:tr h="4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D3.js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Liberté totale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Long à développer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0F3D6E"/>
                          </a:solidFill>
                        </a:rPr>
                        <a:t>Dataviz sur mesure</a:t>
                      </a:r>
                      <a:endParaRPr sz="800" u="none" cap="none" strike="noStrike">
                        <a:solidFill>
                          <a:srgbClr val="0F3D6E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6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7"/>
          <p:cNvSpPr txBox="1"/>
          <p:nvPr/>
        </p:nvSpPr>
        <p:spPr>
          <a:xfrm>
            <a:off x="513950" y="4533925"/>
            <a:ext cx="74850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FF8612"/>
                </a:solidFill>
                <a:latin typeface="Arial"/>
                <a:ea typeface="Arial"/>
                <a:cs typeface="Arial"/>
                <a:sym typeface="Arial"/>
              </a:rPr>
              <a:t>Choix retenu : Power BI</a:t>
            </a:r>
            <a:r>
              <a:rPr b="0" i="0" lang="fr" sz="900" u="none" cap="none" strike="noStrike">
                <a:solidFill>
                  <a:srgbClr val="0F3D6E"/>
                </a:solidFill>
                <a:latin typeface="Arial"/>
                <a:ea typeface="Arial"/>
                <a:cs typeface="Arial"/>
                <a:sym typeface="Arial"/>
              </a:rPr>
              <a:t> - aligné avec l’environnement Microsoft 365 / Azure existant, gouvernance déjà en place, coût progressif.</a:t>
            </a:r>
            <a:endParaRPr b="0" i="0" sz="900" u="none" cap="none" strike="noStrike">
              <a:solidFill>
                <a:srgbClr val="0F3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05853">
            <a:off x="7792225" y="850649"/>
            <a:ext cx="751549" cy="68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D6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3453947" y="923875"/>
            <a:ext cx="30258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Biblio-</a:t>
            </a:r>
            <a: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Tech</a:t>
            </a:r>
            <a:endParaRPr b="1">
              <a:solidFill>
                <a:srgbClr val="FF86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971093" y="3141380"/>
            <a:ext cx="1656000" cy="915000"/>
          </a:xfrm>
          <a:prstGeom prst="roundRect">
            <a:avLst>
              <a:gd fmla="val 16667" name="adj"/>
            </a:avLst>
          </a:prstGeom>
          <a:solidFill>
            <a:srgbClr val="E1DCD5"/>
          </a:solidFill>
          <a:ln>
            <a:noFill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923716" y="3210375"/>
            <a:ext cx="1750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KPI</a:t>
            </a:r>
            <a:b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RH</a:t>
            </a:r>
            <a:endParaRPr b="0" i="0" sz="2161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138852" y="3141380"/>
            <a:ext cx="1656000" cy="915000"/>
          </a:xfrm>
          <a:prstGeom prst="roundRect">
            <a:avLst>
              <a:gd fmla="val 16667" name="adj"/>
            </a:avLst>
          </a:prstGeom>
          <a:solidFill>
            <a:srgbClr val="E1DCD5"/>
          </a:solidFill>
          <a:ln>
            <a:noFill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4091475" y="3210375"/>
            <a:ext cx="1750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KPI</a:t>
            </a:r>
            <a:b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Logistique</a:t>
            </a:r>
            <a:endParaRPr b="0" i="0" sz="2161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965566" y="2100378"/>
            <a:ext cx="1656000" cy="915000"/>
          </a:xfrm>
          <a:prstGeom prst="roundRect">
            <a:avLst>
              <a:gd fmla="val 16667" name="adj"/>
            </a:avLst>
          </a:prstGeom>
          <a:solidFill>
            <a:srgbClr val="E1DCD5"/>
          </a:solidFill>
          <a:ln>
            <a:noFill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5918189" y="2169372"/>
            <a:ext cx="1750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KPI</a:t>
            </a:r>
            <a:b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Vente</a:t>
            </a:r>
            <a:endParaRPr b="0" i="0" sz="2161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133324" y="2100378"/>
            <a:ext cx="1656000" cy="915000"/>
          </a:xfrm>
          <a:prstGeom prst="roundRect">
            <a:avLst>
              <a:gd fmla="val 16667" name="adj"/>
            </a:avLst>
          </a:prstGeom>
          <a:solidFill>
            <a:srgbClr val="E1DCD5"/>
          </a:solidFill>
          <a:ln>
            <a:noFill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4085947" y="2169372"/>
            <a:ext cx="1750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KPI</a:t>
            </a:r>
            <a:b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Finance</a:t>
            </a:r>
            <a:endParaRPr b="0" i="0" sz="2161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741924" y="2100378"/>
            <a:ext cx="2210400" cy="91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1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>
            <a:hlinkClick r:id="rId15"/>
          </p:cNvPr>
          <p:cNvSpPr txBox="1"/>
          <p:nvPr/>
        </p:nvSpPr>
        <p:spPr>
          <a:xfrm>
            <a:off x="1971784" y="2295291"/>
            <a:ext cx="17505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 b="0" i="0" sz="2161" u="none" cap="none" strike="noStrike">
              <a:solidFill>
                <a:srgbClr val="FF861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741924" y="3141380"/>
            <a:ext cx="2210400" cy="91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1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1971784" y="3253933"/>
            <a:ext cx="17505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Dictionnaire</a:t>
            </a:r>
            <a:endParaRPr b="1" i="0" sz="1681" u="none" cap="none" strike="noStrike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 donnés</a:t>
            </a:r>
            <a:endParaRPr b="1" i="0" sz="1681" u="none" cap="none" strike="noStrike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 rot="-8278402">
            <a:off x="2101727" y="811254"/>
            <a:ext cx="1012196" cy="576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DCD5">
            <a:alpha val="26666"/>
          </a:srgbClr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9"/>
          <p:cNvCxnSpPr/>
          <p:nvPr/>
        </p:nvCxnSpPr>
        <p:spPr>
          <a:xfrm>
            <a:off x="2074800" y="3513100"/>
            <a:ext cx="4842000" cy="0"/>
          </a:xfrm>
          <a:prstGeom prst="straightConnector1">
            <a:avLst/>
          </a:prstGeom>
          <a:noFill/>
          <a:ln cap="flat" cmpd="sng" w="38100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9"/>
          <p:cNvSpPr txBox="1"/>
          <p:nvPr>
            <p:ph idx="4294967295" type="title"/>
          </p:nvPr>
        </p:nvSpPr>
        <p:spPr>
          <a:xfrm>
            <a:off x="2169750" y="1193488"/>
            <a:ext cx="4652100" cy="1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Parlons</a:t>
            </a:r>
            <a:b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VENTES &amp; CHIFFRE D’AFFAIRES</a:t>
            </a:r>
            <a:endParaRPr b="1">
              <a:solidFill>
                <a:srgbClr val="FF86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670950" y="3252250"/>
            <a:ext cx="1649700" cy="541200"/>
          </a:xfrm>
          <a:prstGeom prst="roundRect">
            <a:avLst>
              <a:gd fmla="val 16667" name="adj"/>
            </a:avLst>
          </a:prstGeom>
          <a:solidFill>
            <a:srgbClr val="E1DCD5"/>
          </a:solidFill>
          <a:ln>
            <a:noFill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2895150" y="3301608"/>
            <a:ext cx="32013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KPI Vente</a:t>
            </a:r>
            <a:endParaRPr b="0" i="0" sz="2161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20686">
            <a:off x="5832026" y="3116698"/>
            <a:ext cx="687925" cy="574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0" title="Capture d’écran, le 2025-11-03 à 16.47.53.png"/>
          <p:cNvPicPr preferRelativeResize="0"/>
          <p:nvPr/>
        </p:nvPicPr>
        <p:blipFill rotWithShape="1">
          <a:blip r:embed="rId3">
            <a:alphaModFix/>
          </a:blip>
          <a:srcRect b="6034" l="1677" r="1328" t="20104"/>
          <a:stretch/>
        </p:blipFill>
        <p:spPr>
          <a:xfrm>
            <a:off x="143775" y="2556187"/>
            <a:ext cx="5010748" cy="237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/>
          <p:nvPr/>
        </p:nvSpPr>
        <p:spPr>
          <a:xfrm>
            <a:off x="0" y="0"/>
            <a:ext cx="5298300" cy="25056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 txBox="1"/>
          <p:nvPr>
            <p:ph type="title"/>
          </p:nvPr>
        </p:nvSpPr>
        <p:spPr>
          <a:xfrm>
            <a:off x="716950" y="370075"/>
            <a:ext cx="34995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f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Analyse des ventes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0"/>
          <p:cNvSpPr txBox="1"/>
          <p:nvPr>
            <p:ph idx="1" type="body"/>
          </p:nvPr>
        </p:nvSpPr>
        <p:spPr>
          <a:xfrm>
            <a:off x="514602" y="996619"/>
            <a:ext cx="1665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Objectif 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Suivre, analyser et optimiser la génération de revenus, l’efficacité des produits et la performance géographique pour maximiser la rentabilité.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197" name="Google Shape;197;p10"/>
          <p:cNvSpPr txBox="1"/>
          <p:nvPr>
            <p:ph idx="1" type="body"/>
          </p:nvPr>
        </p:nvSpPr>
        <p:spPr>
          <a:xfrm>
            <a:off x="2444626" y="996619"/>
            <a:ext cx="24513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Pourquoi 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Éviter de manquer les périodes de forte croissance. Améliorer la réactivité aux changements de marché et aux tendances régionales. Optimiser l’allocation des budgets marketing et logistiques. Contribue à une gestion stratégique des prix et des prévisions financières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298300" y="0"/>
            <a:ext cx="38457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>
            <p:ph type="title"/>
          </p:nvPr>
        </p:nvSpPr>
        <p:spPr>
          <a:xfrm>
            <a:off x="6208800" y="458400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KPI clés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0"/>
          <p:cNvSpPr txBox="1"/>
          <p:nvPr>
            <p:ph idx="1" type="body"/>
          </p:nvPr>
        </p:nvSpPr>
        <p:spPr>
          <a:xfrm>
            <a:off x="6042725" y="1171275"/>
            <a:ext cx="28560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Chiffre d’Affaires Brut (CA)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Somme totale des ventes (prix*quantité) ventilé par mois, ventilée par région géographique.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Taux d’évolution mensuel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Pourcentage de variation du CA entre le mois récent et le mois précédent. Permet de voir où la croissance accélère ou ralentit.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CA cumulé 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Somme du Chiffre d’affaires depuis le début de l’année pour la région concernée. sert à mesurer l’atteinte des objectifs budgétaires.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Poids de la région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CA de la région / CA Total Monde en %. Indique l’importance relative de chaque marché dans le revenu global.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793750" y="1294675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793750" y="2096300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793750" y="3032150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793750" y="3889700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5298300" cy="24504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 txBox="1"/>
          <p:nvPr>
            <p:ph type="title"/>
          </p:nvPr>
        </p:nvSpPr>
        <p:spPr>
          <a:xfrm>
            <a:off x="370750" y="370075"/>
            <a:ext cx="4609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672"/>
              <a:buFont typeface="Arial"/>
              <a:buNone/>
            </a:pPr>
            <a:r>
              <a:rPr b="1" lang="fr" sz="23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Performances des produits</a:t>
            </a:r>
            <a:endParaRPr b="1" sz="2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1"/>
          <p:cNvSpPr txBox="1"/>
          <p:nvPr>
            <p:ph idx="1" type="body"/>
          </p:nvPr>
        </p:nvSpPr>
        <p:spPr>
          <a:xfrm>
            <a:off x="388389" y="1011575"/>
            <a:ext cx="1665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Objectif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Identifier les produits les plus performants et les moins performants (best-sellers et flops) dans chaque catégorie pour ’optimiser l’assortiment et les actions promotionnelles.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12" name="Google Shape;212;p11"/>
          <p:cNvSpPr txBox="1"/>
          <p:nvPr>
            <p:ph idx="1" type="body"/>
          </p:nvPr>
        </p:nvSpPr>
        <p:spPr>
          <a:xfrm>
            <a:off x="2273513" y="1011575"/>
            <a:ext cx="26364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Pourquoi 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Identifier les articles qui dominent les ventes en volume. Améliorer la rotation des stocks en identifiant les produits à risque. Optimiser l’assortiment pour mieux répondre à la demande client. Contribue à une gestion ciblée des promotions et du développement de produits.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298300" y="0"/>
            <a:ext cx="38457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 txBox="1"/>
          <p:nvPr>
            <p:ph type="title"/>
          </p:nvPr>
        </p:nvSpPr>
        <p:spPr>
          <a:xfrm>
            <a:off x="6208800" y="458400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KPI clés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5" name="Google Shape;215;p11" title="Capture d’écran, le 2025-11-03 à 16.48.01.png"/>
          <p:cNvPicPr preferRelativeResize="0"/>
          <p:nvPr/>
        </p:nvPicPr>
        <p:blipFill rotWithShape="1">
          <a:blip r:embed="rId3">
            <a:alphaModFix/>
          </a:blip>
          <a:srcRect b="4828" l="0" r="0" t="16918"/>
          <a:stretch/>
        </p:blipFill>
        <p:spPr>
          <a:xfrm>
            <a:off x="135563" y="2571750"/>
            <a:ext cx="5027175" cy="24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 txBox="1"/>
          <p:nvPr>
            <p:ph idx="1" type="body"/>
          </p:nvPr>
        </p:nvSpPr>
        <p:spPr>
          <a:xfrm>
            <a:off x="6133875" y="1223525"/>
            <a:ext cx="26364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Volume de ventes par Catégorie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Cet indicateur montre le poids de chaque famille de produits dans les ventes globales</a:t>
            </a:r>
            <a:r>
              <a:rPr lang="fr" sz="900">
                <a:solidFill>
                  <a:srgbClr val="0E3D6F"/>
                </a:solidFill>
              </a:rPr>
              <a:t>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Produits Tops 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Le produit le plus vendu par catégorie. sert de référence pour les stratégies de marketing et de développement de nouveaux produits.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Produits Flop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Le produit le moins vendu par catégorie. Permet de déclencher des actions d’inventaire (promotion, liquidation) ou de décider de l’arrêt de production.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Top 5 produits en valeur $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Il identifie des produits qui contribuent le plus au Chiffre d’Affaires global. Il sert à valider des articles à forte valeur.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915825" y="1346925"/>
            <a:ext cx="1137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5915825" y="2299875"/>
            <a:ext cx="1137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5915825" y="3084400"/>
            <a:ext cx="1137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915825" y="4004175"/>
            <a:ext cx="1137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DCD5">
            <a:alpha val="26666"/>
          </a:srgbClr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 txBox="1"/>
          <p:nvPr>
            <p:ph idx="4294967295" type="title"/>
          </p:nvPr>
        </p:nvSpPr>
        <p:spPr>
          <a:xfrm>
            <a:off x="1803400" y="1454700"/>
            <a:ext cx="5657400" cy="1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Coté </a:t>
            </a:r>
            <a:b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CLIENT &amp; RENTABILITÉ</a:t>
            </a:r>
            <a:endParaRPr b="1">
              <a:solidFill>
                <a:srgbClr val="FF86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6" name="Google Shape;226;p12"/>
          <p:cNvCxnSpPr/>
          <p:nvPr/>
        </p:nvCxnSpPr>
        <p:spPr>
          <a:xfrm>
            <a:off x="2211100" y="3284500"/>
            <a:ext cx="4842000" cy="0"/>
          </a:xfrm>
          <a:prstGeom prst="straightConnector1">
            <a:avLst/>
          </a:prstGeom>
          <a:noFill/>
          <a:ln cap="flat" cmpd="sng" w="38100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2"/>
          <p:cNvSpPr/>
          <p:nvPr/>
        </p:nvSpPr>
        <p:spPr>
          <a:xfrm>
            <a:off x="3807250" y="3023650"/>
            <a:ext cx="1649700" cy="541200"/>
          </a:xfrm>
          <a:prstGeom prst="roundRect">
            <a:avLst>
              <a:gd fmla="val 16667" name="adj"/>
            </a:avLst>
          </a:prstGeom>
          <a:solidFill>
            <a:srgbClr val="E1DCD5"/>
          </a:solidFill>
          <a:ln>
            <a:noFill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3596950" y="3065500"/>
            <a:ext cx="2070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KPI Finance</a:t>
            </a:r>
            <a:endParaRPr b="0" i="0" sz="2161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1" i="0" sz="1681" u="none" cap="none" strike="noStrike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9" name="Google Shape;2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52203">
            <a:off x="2564630" y="2921497"/>
            <a:ext cx="668993" cy="63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/>
          <p:nvPr/>
        </p:nvSpPr>
        <p:spPr>
          <a:xfrm>
            <a:off x="4589400" y="-24100"/>
            <a:ext cx="45894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0" y="0"/>
            <a:ext cx="4589400" cy="29286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 txBox="1"/>
          <p:nvPr>
            <p:ph type="title"/>
          </p:nvPr>
        </p:nvSpPr>
        <p:spPr>
          <a:xfrm>
            <a:off x="596900" y="396800"/>
            <a:ext cx="34896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22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Clients générant le plus/moins de revenus</a:t>
            </a:r>
            <a:endParaRPr b="1" sz="20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7"/>
          <p:cNvSpPr txBox="1"/>
          <p:nvPr>
            <p:ph idx="1" type="body"/>
          </p:nvPr>
        </p:nvSpPr>
        <p:spPr>
          <a:xfrm>
            <a:off x="660300" y="3848025"/>
            <a:ext cx="3268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solidFill>
                  <a:srgbClr val="0E3D6F"/>
                </a:solidFill>
              </a:rPr>
              <a:t>Connaître la rentabilité et l’efficacité de chaque vendeur. Le suivi mensuel permet une comparaison juste des performances, indépendamment de l’ancienneté, et aide à évaluer l’impact de l’employé sur la performance globale de la franchise.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238" name="Google Shape;238;p27"/>
          <p:cNvSpPr txBox="1"/>
          <p:nvPr>
            <p:ph idx="1" type="body"/>
          </p:nvPr>
        </p:nvSpPr>
        <p:spPr>
          <a:xfrm>
            <a:off x="711200" y="1599175"/>
            <a:ext cx="3048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fr" sz="900">
                <a:solidFill>
                  <a:schemeClr val="lt1"/>
                </a:solidFill>
              </a:rPr>
              <a:t>Objectif : </a:t>
            </a:r>
            <a:br>
              <a:rPr b="1" lang="fr" sz="9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Mesurer la marge brute et en déduire les produits / catégories les plus / moins rentables. </a:t>
            </a:r>
            <a:br>
              <a:rPr lang="fr" sz="900">
                <a:solidFill>
                  <a:schemeClr val="lt1"/>
                </a:solidFill>
              </a:rPr>
            </a:br>
            <a:r>
              <a:rPr lang="fr" sz="900">
                <a:solidFill>
                  <a:schemeClr val="lt1"/>
                </a:solidFill>
              </a:rPr>
              <a:t>identifier les clients générant le plus et le moins de revenus pour mieux les fidéliser et concentrer les efforts de vente.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52">
              <a:solidFill>
                <a:schemeClr val="lt1"/>
              </a:solidFill>
            </a:endParaRPr>
          </a:p>
        </p:txBody>
      </p:sp>
      <p:sp>
        <p:nvSpPr>
          <p:cNvPr id="239" name="Google Shape;239;p27"/>
          <p:cNvSpPr txBox="1"/>
          <p:nvPr>
            <p:ph type="title"/>
          </p:nvPr>
        </p:nvSpPr>
        <p:spPr>
          <a:xfrm>
            <a:off x="5850050" y="396800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KPI clés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5453000" y="1024400"/>
            <a:ext cx="3141000" cy="4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CA par Vendeur et par mois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Montant total des ventes (en valeur monétaire) attribué à un employé sur un mois donné. Application managériale : c’est la base pour le calcul des commissions et bonus. Il permet de s’assurer que les objectifs mensuels sont atteints.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Part de CA individuel :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Pourcentage du CA du vendeur par rapport au CA total du bureau ou de la franchise. Application managériale  : permet d’identifier ceux qui ont un effet de levier disproportionné sur l’entreprise et ceux qui sous-performent par rapport à leurs collègues.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Vendeur Top </a:t>
            </a:r>
            <a:br>
              <a:rPr b="1" lang="fr" sz="900">
                <a:solidFill>
                  <a:srgbClr val="FF8612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Identification de l’employé affichant le CA le plus élevé pour des actions de félicitation. Application managériale  : permet la reconnaissance immédiate et l’analyse de ses méthodes de succès.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900">
                <a:solidFill>
                  <a:srgbClr val="FF8612"/>
                </a:solidFill>
              </a:rPr>
              <a:t>Vendeur Flop du mois (Ratio Paiement)</a:t>
            </a:r>
            <a:br>
              <a:rPr b="1" lang="fr" sz="900">
                <a:solidFill>
                  <a:srgbClr val="FF8612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Identification de l’employé ayant le plus faible ratio commandes/paiements, comme Leslie Jennings à 67%. Application managériale : intervention et coaching ciblés pour régler les problèmes d’encaissement et de recouvrement.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5282600" y="1323800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5242100" y="3219150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5242100" y="2271475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"/>
          <p:cNvSpPr txBox="1"/>
          <p:nvPr>
            <p:ph type="title"/>
          </p:nvPr>
        </p:nvSpPr>
        <p:spPr>
          <a:xfrm>
            <a:off x="1011600" y="3229650"/>
            <a:ext cx="25662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Pourquoi?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5242100" y="4189425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/>
          <p:nvPr/>
        </p:nvSpPr>
        <p:spPr>
          <a:xfrm>
            <a:off x="0" y="0"/>
            <a:ext cx="5298300" cy="25086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 txBox="1"/>
          <p:nvPr>
            <p:ph type="title"/>
          </p:nvPr>
        </p:nvSpPr>
        <p:spPr>
          <a:xfrm>
            <a:off x="370750" y="370075"/>
            <a:ext cx="4609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765"/>
              <a:buNone/>
            </a:pPr>
            <a:r>
              <a:rPr b="1" lang="fr" sz="22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Profil différents clients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13"/>
          <p:cNvSpPr txBox="1"/>
          <p:nvPr>
            <p:ph idx="1" type="body"/>
          </p:nvPr>
        </p:nvSpPr>
        <p:spPr>
          <a:xfrm>
            <a:off x="357350" y="1028750"/>
            <a:ext cx="17955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800"/>
              <a:buNone/>
            </a:pPr>
            <a:r>
              <a:rPr b="1" lang="fr" sz="800">
                <a:solidFill>
                  <a:schemeClr val="lt1"/>
                </a:solidFill>
              </a:rPr>
              <a:t>Objectif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</a:t>
            </a:r>
            <a:r>
              <a:rPr lang="fr" sz="800">
                <a:solidFill>
                  <a:schemeClr val="lt1"/>
                </a:solidFill>
              </a:rPr>
              <a:t> Classer les clients par contribution au chiffre d’affaires.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</a:t>
            </a:r>
            <a:r>
              <a:rPr lang="fr" sz="800">
                <a:solidFill>
                  <a:schemeClr val="lt1"/>
                </a:solidFill>
              </a:rPr>
              <a:t> Mettre en lumière les impayés significatifs.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</a:t>
            </a:r>
            <a:r>
              <a:rPr lang="fr" sz="800">
                <a:solidFill>
                  <a:schemeClr val="lt1"/>
                </a:solidFill>
              </a:rPr>
              <a:t> Qualifier la fidélité (occasionnels =&gt; réguliers =&gt; premium).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53" name="Google Shape;253;p13"/>
          <p:cNvSpPr txBox="1"/>
          <p:nvPr>
            <p:ph idx="1" type="body"/>
          </p:nvPr>
        </p:nvSpPr>
        <p:spPr>
          <a:xfrm>
            <a:off x="2342575" y="1028751"/>
            <a:ext cx="26364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Pourquoi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 </a:t>
            </a:r>
            <a:r>
              <a:rPr lang="fr" sz="800">
                <a:solidFill>
                  <a:schemeClr val="lt1"/>
                </a:solidFill>
              </a:rPr>
              <a:t>Orienter les efforts commerciaux : développer, réactiver, fidéliser.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</a:t>
            </a:r>
            <a:r>
              <a:rPr lang="fr" sz="800">
                <a:solidFill>
                  <a:schemeClr val="lt1"/>
                </a:solidFill>
              </a:rPr>
              <a:t> Sécuriser la trésorerie via des relances ciblées sur les cas prioritaires.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 </a:t>
            </a:r>
            <a:r>
              <a:rPr lang="fr" sz="800">
                <a:solidFill>
                  <a:schemeClr val="lt1"/>
                </a:solidFill>
              </a:rPr>
              <a:t>Segmenter clairement la base et suivre l’évolution sur 12 mois glissants.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298300" y="0"/>
            <a:ext cx="38457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>
            <p:ph type="title"/>
          </p:nvPr>
        </p:nvSpPr>
        <p:spPr>
          <a:xfrm>
            <a:off x="6132600" y="293875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KPI clés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13"/>
          <p:cNvSpPr txBox="1"/>
          <p:nvPr>
            <p:ph idx="1" type="body"/>
          </p:nvPr>
        </p:nvSpPr>
        <p:spPr>
          <a:xfrm>
            <a:off x="5859250" y="952550"/>
            <a:ext cx="3075300" cy="3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Revenu généré par client </a:t>
            </a:r>
            <a:br>
              <a:rPr b="1" lang="fr" sz="900">
                <a:solidFill>
                  <a:srgbClr val="FF8612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A quoi ça sert ?</a:t>
            </a:r>
            <a:r>
              <a:rPr lang="fr" sz="800">
                <a:solidFill>
                  <a:srgbClr val="0E3D6F"/>
                </a:solidFill>
              </a:rPr>
              <a:t> On priorise les efforts commerciaux : </a:t>
            </a:r>
            <a:br>
              <a:rPr lang="fr" sz="8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qui développer, qui réactiver.</a:t>
            </a:r>
            <a:br>
              <a:rPr lang="fr" sz="8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Comment ça fonctionne ?</a:t>
            </a:r>
            <a:r>
              <a:rPr lang="fr" sz="800">
                <a:solidFill>
                  <a:srgbClr val="0E3D6F"/>
                </a:solidFill>
              </a:rPr>
              <a:t> La liste s’actualise avec les filtres ; on choisit combien de clients afficher et on peut classer par plus haut ou plus bas revenus pour orienter l’action.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Impayés clients :</a:t>
            </a:r>
            <a:br>
              <a:rPr b="1" lang="fr" sz="9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A quoi ça sert ?</a:t>
            </a:r>
            <a:r>
              <a:rPr lang="fr" sz="800">
                <a:solidFill>
                  <a:srgbClr val="0E3D6F"/>
                </a:solidFill>
              </a:rPr>
              <a:t> On pilote le risque et la trésorerie : où concentrer les relances.</a:t>
            </a:r>
            <a:br>
              <a:rPr lang="fr" sz="8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Comment ça fonctionne ?</a:t>
            </a:r>
            <a:r>
              <a:rPr lang="fr" sz="800">
                <a:solidFill>
                  <a:srgbClr val="0E3D6F"/>
                </a:solidFill>
              </a:rPr>
              <a:t> Le tableau classe les clients du plus risqué au moins risqué avec un statut clair, et un visuel montre la part d’impayés par rapport au CA de la période.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Fidélité client / Nombre de commande : </a:t>
            </a:r>
            <a:br>
              <a:rPr b="1" lang="fr" sz="900">
                <a:solidFill>
                  <a:srgbClr val="FF8612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A quoi ça sert ?</a:t>
            </a:r>
            <a:r>
              <a:rPr lang="fr" sz="800">
                <a:solidFill>
                  <a:srgbClr val="0E3D6F"/>
                </a:solidFill>
              </a:rPr>
              <a:t> On segmente la base (Occasionnels / Réguliers / Premium) pour adapter nos campagnes et avantages.</a:t>
            </a:r>
            <a:br>
              <a:rPr lang="fr" sz="8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Comment ça fonctionne ? </a:t>
            </a:r>
            <a:r>
              <a:rPr lang="fr" sz="800">
                <a:solidFill>
                  <a:srgbClr val="0E3D6F"/>
                </a:solidFill>
              </a:rPr>
              <a:t>Une barre indique la répartition des segments et un compteur met en avant les clients Premium ; tout réagit aux filtres de la page.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b="1" lang="fr" sz="900">
                <a:solidFill>
                  <a:srgbClr val="FF8612"/>
                </a:solidFill>
              </a:rPr>
            </a:b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648350" y="1494205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648350" y="4127000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648350" y="2810600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3" title="Capture d’écran, le 2025-11-04 à 09.51.08.png"/>
          <p:cNvPicPr preferRelativeResize="0"/>
          <p:nvPr/>
        </p:nvPicPr>
        <p:blipFill rotWithShape="1">
          <a:blip r:embed="rId3">
            <a:alphaModFix/>
          </a:blip>
          <a:srcRect b="6783" l="2672" r="3227" t="20197"/>
          <a:stretch/>
        </p:blipFill>
        <p:spPr>
          <a:xfrm>
            <a:off x="139075" y="2648950"/>
            <a:ext cx="5020151" cy="237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/>
          <p:nvPr/>
        </p:nvSpPr>
        <p:spPr>
          <a:xfrm>
            <a:off x="0" y="0"/>
            <a:ext cx="5298300" cy="25086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 txBox="1"/>
          <p:nvPr>
            <p:ph type="title"/>
          </p:nvPr>
        </p:nvSpPr>
        <p:spPr>
          <a:xfrm>
            <a:off x="370750" y="370075"/>
            <a:ext cx="4609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58"/>
              <a:buFont typeface="Arial"/>
              <a:buNone/>
            </a:pPr>
            <a:r>
              <a:rPr b="1" lang="fr" sz="22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Rentabilité produit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765"/>
              <a:buNone/>
            </a:pPr>
            <a:r>
              <a:t/>
            </a:r>
            <a:endParaRPr b="1" sz="2242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14"/>
          <p:cNvSpPr txBox="1"/>
          <p:nvPr>
            <p:ph idx="1" type="body"/>
          </p:nvPr>
        </p:nvSpPr>
        <p:spPr>
          <a:xfrm>
            <a:off x="357350" y="1028750"/>
            <a:ext cx="16659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800"/>
              <a:buNone/>
            </a:pPr>
            <a:r>
              <a:rPr b="1" lang="fr" sz="800">
                <a:solidFill>
                  <a:schemeClr val="lt1"/>
                </a:solidFill>
              </a:rPr>
              <a:t>Objectif 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</a:t>
            </a:r>
            <a:r>
              <a:rPr lang="fr" sz="800">
                <a:solidFill>
                  <a:schemeClr val="lt1"/>
                </a:solidFill>
              </a:rPr>
              <a:t> Mesurer la </a:t>
            </a:r>
            <a:r>
              <a:rPr b="1" lang="fr" sz="800">
                <a:solidFill>
                  <a:schemeClr val="lt1"/>
                </a:solidFill>
              </a:rPr>
              <a:t>rentabilité</a:t>
            </a:r>
            <a:r>
              <a:rPr lang="fr" sz="800">
                <a:solidFill>
                  <a:schemeClr val="lt1"/>
                </a:solidFill>
              </a:rPr>
              <a:t> (qualité des ventes) par produit et par catégorie.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</a:t>
            </a:r>
            <a:r>
              <a:rPr lang="fr" sz="800">
                <a:solidFill>
                  <a:schemeClr val="lt1"/>
                </a:solidFill>
              </a:rPr>
              <a:t> </a:t>
            </a:r>
            <a:r>
              <a:rPr b="1" lang="fr" sz="800">
                <a:solidFill>
                  <a:schemeClr val="lt1"/>
                </a:solidFill>
              </a:rPr>
              <a:t>Détecter</a:t>
            </a:r>
            <a:r>
              <a:rPr lang="fr" sz="800">
                <a:solidFill>
                  <a:schemeClr val="lt1"/>
                </a:solidFill>
              </a:rPr>
              <a:t> immédiatement les références à perte et les </a:t>
            </a:r>
            <a:r>
              <a:rPr b="1" lang="fr" sz="800">
                <a:solidFill>
                  <a:schemeClr val="lt1"/>
                </a:solidFill>
              </a:rPr>
              <a:t>invendus</a:t>
            </a:r>
            <a:r>
              <a:rPr lang="fr" sz="800">
                <a:solidFill>
                  <a:schemeClr val="lt1"/>
                </a:solidFill>
              </a:rPr>
              <a:t>.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68" name="Google Shape;268;p14"/>
          <p:cNvSpPr txBox="1"/>
          <p:nvPr>
            <p:ph idx="1" type="body"/>
          </p:nvPr>
        </p:nvSpPr>
        <p:spPr>
          <a:xfrm>
            <a:off x="2342575" y="1028751"/>
            <a:ext cx="26364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Pourquoi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 Optimiser la marge</a:t>
            </a:r>
            <a:r>
              <a:rPr lang="fr" sz="800">
                <a:solidFill>
                  <a:schemeClr val="lt1"/>
                </a:solidFill>
              </a:rPr>
              <a:t> avant le volume : agir sur prix/remises/coûts.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</a:t>
            </a:r>
            <a:r>
              <a:rPr lang="fr" sz="800">
                <a:solidFill>
                  <a:schemeClr val="lt1"/>
                </a:solidFill>
              </a:rPr>
              <a:t> </a:t>
            </a:r>
            <a:r>
              <a:rPr b="1" lang="fr" sz="800">
                <a:solidFill>
                  <a:schemeClr val="lt1"/>
                </a:solidFill>
              </a:rPr>
              <a:t>Assainir le catalogue</a:t>
            </a:r>
            <a:r>
              <a:rPr lang="fr" sz="800">
                <a:solidFill>
                  <a:schemeClr val="lt1"/>
                </a:solidFill>
              </a:rPr>
              <a:t> et libérer du cash : stopper les pertes, déstocker les dormants.</a:t>
            </a:r>
            <a:br>
              <a:rPr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• Prioriser </a:t>
            </a:r>
            <a:r>
              <a:rPr lang="fr" sz="800">
                <a:solidFill>
                  <a:schemeClr val="lt1"/>
                </a:solidFill>
              </a:rPr>
              <a:t>clairement via des segments lisibles (Q1 à Q4) sur 12 mois glissants.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5298300" y="0"/>
            <a:ext cx="38457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>
            <p:ph type="title"/>
          </p:nvPr>
        </p:nvSpPr>
        <p:spPr>
          <a:xfrm>
            <a:off x="6208800" y="370075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KPI clés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14"/>
          <p:cNvSpPr txBox="1"/>
          <p:nvPr>
            <p:ph idx="1" type="body"/>
          </p:nvPr>
        </p:nvSpPr>
        <p:spPr>
          <a:xfrm>
            <a:off x="5859250" y="975894"/>
            <a:ext cx="3141000" cy="3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Taux de marge (quartiles) :</a:t>
            </a:r>
            <a:br>
              <a:rPr b="1" lang="fr" sz="900">
                <a:solidFill>
                  <a:srgbClr val="FF8612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A quoi ça sert ?</a:t>
            </a:r>
            <a:r>
              <a:rPr lang="fr" sz="800">
                <a:solidFill>
                  <a:srgbClr val="0E3D6F"/>
                </a:solidFill>
              </a:rPr>
              <a:t> Prioriser : Q1 = à surveiller, Q2–Q3 = potentiel à optimiser, Q4 = top à consolider.</a:t>
            </a:r>
            <a:br>
              <a:rPr lang="fr" sz="8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Comment ça fonctionne ?</a:t>
            </a:r>
            <a:r>
              <a:rPr lang="fr" sz="800">
                <a:solidFill>
                  <a:srgbClr val="0E3D6F"/>
                </a:solidFill>
              </a:rPr>
              <a:t> Classement par taux de marge ; on coche les segments et on bascule Catégorie/Produit pour changer d’échelle.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Alerte pertes :</a:t>
            </a:r>
            <a:br>
              <a:rPr b="1" lang="fr" sz="9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A quoi ça sert ?</a:t>
            </a:r>
            <a:r>
              <a:rPr lang="fr" sz="800">
                <a:solidFill>
                  <a:srgbClr val="0E3D6F"/>
                </a:solidFill>
              </a:rPr>
              <a:t> Repérer les références vendues à perte pour correction immédiate (prix, promo, déréférencement).</a:t>
            </a:r>
            <a:br>
              <a:rPr lang="fr" sz="8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Comment ça fonctionne ?</a:t>
            </a:r>
            <a:r>
              <a:rPr lang="fr" sz="800">
                <a:solidFill>
                  <a:srgbClr val="0E3D6F"/>
                </a:solidFill>
              </a:rPr>
              <a:t> Un indicateur global (zéro/pas de pertes) et, s’il y en a, une liste des produits concernés synchronisée avec les filtres de la page.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Alerte invendus : </a:t>
            </a:r>
            <a:br>
              <a:rPr b="1" lang="fr" sz="900">
                <a:solidFill>
                  <a:srgbClr val="FF8612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A quoi ça sert ? </a:t>
            </a:r>
            <a:r>
              <a:rPr lang="fr" sz="800">
                <a:solidFill>
                  <a:srgbClr val="0E3D6F"/>
                </a:solidFill>
              </a:rPr>
              <a:t>Identifier les produits dormants (aucune vente sur la période) pour déstockage ou plan d’animation.</a:t>
            </a:r>
            <a:br>
              <a:rPr lang="fr" sz="800">
                <a:solidFill>
                  <a:srgbClr val="0E3D6F"/>
                </a:solidFill>
              </a:rPr>
            </a:br>
            <a:r>
              <a:rPr b="1" lang="fr" sz="800">
                <a:solidFill>
                  <a:srgbClr val="0E3D6F"/>
                </a:solidFill>
              </a:rPr>
              <a:t>Comment ça fonctionne ? </a:t>
            </a:r>
            <a:r>
              <a:rPr lang="fr" sz="800">
                <a:solidFill>
                  <a:srgbClr val="0E3D6F"/>
                </a:solidFill>
              </a:rPr>
              <a:t>Un compteur d’invendus et un tableau des références ; la bascule Catégorie/Produit permet de zoomer ou d’agréger.</a:t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5648350" y="1517549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5648350" y="4150344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5648350" y="2833944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4" title="Capture d’écran, le 2025-11-03 à 16.48.09.png"/>
          <p:cNvPicPr preferRelativeResize="0"/>
          <p:nvPr/>
        </p:nvPicPr>
        <p:blipFill rotWithShape="1">
          <a:blip r:embed="rId3">
            <a:alphaModFix/>
          </a:blip>
          <a:srcRect b="4136" l="6650" r="4916" t="20658"/>
          <a:stretch/>
        </p:blipFill>
        <p:spPr>
          <a:xfrm>
            <a:off x="185375" y="2547525"/>
            <a:ext cx="4927550" cy="25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DCD5">
            <a:alpha val="26666"/>
          </a:srgbClr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 txBox="1"/>
          <p:nvPr>
            <p:ph idx="4294967295" type="title"/>
          </p:nvPr>
        </p:nvSpPr>
        <p:spPr>
          <a:xfrm>
            <a:off x="1651000" y="1378500"/>
            <a:ext cx="5657400" cy="1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Analyse des</a:t>
            </a:r>
            <a: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ÉQUIPES COMMERCIALES</a:t>
            </a:r>
            <a:endParaRPr b="1">
              <a:solidFill>
                <a:srgbClr val="FF86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" name="Google Shape;281;p15"/>
          <p:cNvCxnSpPr/>
          <p:nvPr/>
        </p:nvCxnSpPr>
        <p:spPr>
          <a:xfrm>
            <a:off x="2058700" y="3436900"/>
            <a:ext cx="4842000" cy="0"/>
          </a:xfrm>
          <a:prstGeom prst="straightConnector1">
            <a:avLst/>
          </a:prstGeom>
          <a:noFill/>
          <a:ln cap="flat" cmpd="sng" w="38100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5"/>
          <p:cNvSpPr/>
          <p:nvPr/>
        </p:nvSpPr>
        <p:spPr>
          <a:xfrm>
            <a:off x="3654850" y="3176050"/>
            <a:ext cx="1649700" cy="541200"/>
          </a:xfrm>
          <a:prstGeom prst="roundRect">
            <a:avLst>
              <a:gd fmla="val 16667" name="adj"/>
            </a:avLst>
          </a:prstGeom>
          <a:solidFill>
            <a:srgbClr val="E1DCD5"/>
          </a:solidFill>
          <a:ln>
            <a:noFill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3604450" y="3217908"/>
            <a:ext cx="1750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KPI RH</a:t>
            </a:r>
            <a:endParaRPr b="0" i="0" sz="2161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86262">
            <a:off x="5772876" y="2988000"/>
            <a:ext cx="639551" cy="77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"/>
          <p:cNvSpPr/>
          <p:nvPr/>
        </p:nvSpPr>
        <p:spPr>
          <a:xfrm>
            <a:off x="0" y="0"/>
            <a:ext cx="5298300" cy="24504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 txBox="1"/>
          <p:nvPr>
            <p:ph type="title"/>
          </p:nvPr>
        </p:nvSpPr>
        <p:spPr>
          <a:xfrm>
            <a:off x="370750" y="370075"/>
            <a:ext cx="4609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099"/>
              <a:buNone/>
            </a:pPr>
            <a:r>
              <a:rPr b="1" lang="fr" sz="23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Performances commerciale</a:t>
            </a:r>
            <a:endParaRPr b="1" sz="2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16"/>
          <p:cNvSpPr txBox="1"/>
          <p:nvPr>
            <p:ph idx="1" type="body"/>
          </p:nvPr>
        </p:nvSpPr>
        <p:spPr>
          <a:xfrm>
            <a:off x="357351" y="982049"/>
            <a:ext cx="1665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900">
                <a:solidFill>
                  <a:schemeClr val="lt1"/>
                </a:solidFill>
              </a:rPr>
              <a:t>Objectif </a:t>
            </a:r>
            <a:br>
              <a:rPr b="1" lang="fr" sz="9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9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Calculer le Chiffre d’Affaires (CA) généré par chaque employé des ventes, par mois, pour identifier les contributions individuelles à la performance globale de la franchise.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92" name="Google Shape;292;p16"/>
          <p:cNvSpPr txBox="1"/>
          <p:nvPr>
            <p:ph idx="1" type="body"/>
          </p:nvPr>
        </p:nvSpPr>
        <p:spPr>
          <a:xfrm>
            <a:off x="2242475" y="982049"/>
            <a:ext cx="26364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Pourquoi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Connaître la rentabilité et l’efficacité de chaque vendeur. Le suivi mensuel permet une comparaison juste des performances, indépendamment de l’ancienneté, et aide à évaluer l’impact de l’employé sur la performance globale de la franchise.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100"/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5298300" y="0"/>
            <a:ext cx="38457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6"/>
          <p:cNvSpPr txBox="1"/>
          <p:nvPr>
            <p:ph type="title"/>
          </p:nvPr>
        </p:nvSpPr>
        <p:spPr>
          <a:xfrm>
            <a:off x="6208800" y="313781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KPI clés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6023550" y="1012056"/>
            <a:ext cx="2636400" cy="3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CA des Vendeur pour la dernière année glissante :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Montant total des ventes (en valeur monétaire) attribué à un employé sur la dernière année glissante.. Application managériale : c’est la base pour le calcul des commissions et bonus. Il permet de s’assurer que les objectifs annuels sont atteints.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CA par bureau pour la dernière année glissante :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Pourcentage du CA du vendeur par rapport au CA total du bureau. Application managériale : permet d’identifier ceux qui ont un effet de levier disproportionné sur l’entreprise et ceux qui sous-performent par rapport à leurs collègues.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Vendeur Top :</a:t>
            </a:r>
            <a:br>
              <a:rPr b="1" lang="fr" sz="900">
                <a:solidFill>
                  <a:srgbClr val="FF8612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Identification de l’employé affichant le CA le plus élevé pour des actions de félicitation. Application managériale : permet la reconnaissance immédiate et l’analyse de ses méthodes de succès.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900">
                <a:solidFill>
                  <a:srgbClr val="FF8612"/>
                </a:solidFill>
              </a:rPr>
              <a:t>Vendeur Flop du mois (Ratio Commande/Paiement)</a:t>
            </a:r>
            <a:br>
              <a:rPr b="1" lang="fr" sz="900">
                <a:solidFill>
                  <a:srgbClr val="FF8612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Identification de l’employé ayant le plus faible ratio commandes/paiements, comme Leslie Jennings à 67%. Application managériale : intervention et coaching ciblés pour régler les problèmes d’encaissement et de recouvrement.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5811744" y="1327031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771244" y="3222381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5771244" y="2274706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5771244" y="4192656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16" title="Capture d’écran, le 2025-11-03 à 17.43.48.png"/>
          <p:cNvPicPr preferRelativeResize="0"/>
          <p:nvPr/>
        </p:nvPicPr>
        <p:blipFill rotWithShape="1">
          <a:blip r:embed="rId3">
            <a:alphaModFix/>
          </a:blip>
          <a:srcRect b="4496" l="9845" r="7139" t="19676"/>
          <a:stretch/>
        </p:blipFill>
        <p:spPr>
          <a:xfrm>
            <a:off x="344550" y="2450402"/>
            <a:ext cx="4609199" cy="261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DCD5">
            <a:alpha val="26666"/>
          </a:srgbClr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idx="4294967295" type="title"/>
          </p:nvPr>
        </p:nvSpPr>
        <p:spPr>
          <a:xfrm>
            <a:off x="2209175" y="1449763"/>
            <a:ext cx="4652100" cy="1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Au tour de</a:t>
            </a:r>
            <a:b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LA LOGISTIQUE</a:t>
            </a:r>
            <a:endParaRPr b="1">
              <a:solidFill>
                <a:srgbClr val="FF86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6" name="Google Shape;306;p17"/>
          <p:cNvCxnSpPr/>
          <p:nvPr/>
        </p:nvCxnSpPr>
        <p:spPr>
          <a:xfrm>
            <a:off x="2114225" y="3208300"/>
            <a:ext cx="4842000" cy="0"/>
          </a:xfrm>
          <a:prstGeom prst="straightConnector1">
            <a:avLst/>
          </a:prstGeom>
          <a:noFill/>
          <a:ln cap="flat" cmpd="sng" w="38100">
            <a:solidFill>
              <a:srgbClr val="0E3D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7"/>
          <p:cNvSpPr/>
          <p:nvPr/>
        </p:nvSpPr>
        <p:spPr>
          <a:xfrm>
            <a:off x="3420575" y="2947450"/>
            <a:ext cx="2229300" cy="541200"/>
          </a:xfrm>
          <a:prstGeom prst="roundRect">
            <a:avLst>
              <a:gd fmla="val 16667" name="adj"/>
            </a:avLst>
          </a:prstGeom>
          <a:solidFill>
            <a:srgbClr val="E1DCD5"/>
          </a:solidFill>
          <a:ln>
            <a:noFill/>
          </a:ln>
        </p:spPr>
        <p:txBody>
          <a:bodyPr anchorCtr="0" anchor="ctr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0" i="0" sz="16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3500075" y="2937700"/>
            <a:ext cx="2070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00" lIns="109800" spcFirstLastPara="1" rIns="109800" wrap="square" tIns="109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" sz="1681" u="none" cap="none" strike="noStrike">
                <a:solidFill>
                  <a:srgbClr val="0E3D6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KPI Logistique</a:t>
            </a:r>
            <a:endParaRPr b="0" i="0" sz="2161" u="none" cap="none" strike="noStrike">
              <a:solidFill>
                <a:srgbClr val="0E3D6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1" i="0" sz="1681" u="none" cap="none" strike="noStrike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1"/>
              <a:buFont typeface="Arial"/>
              <a:buNone/>
            </a:pPr>
            <a:r>
              <a:t/>
            </a:r>
            <a:endParaRPr b="1" i="0" sz="1681" u="none" cap="none" strike="noStrike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9" name="Google Shape;3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84111">
            <a:off x="6020747" y="2728700"/>
            <a:ext cx="748585" cy="73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/>
          <p:nvPr/>
        </p:nvSpPr>
        <p:spPr>
          <a:xfrm>
            <a:off x="0" y="0"/>
            <a:ext cx="5298300" cy="24504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8"/>
          <p:cNvSpPr txBox="1"/>
          <p:nvPr>
            <p:ph type="title"/>
          </p:nvPr>
        </p:nvSpPr>
        <p:spPr>
          <a:xfrm>
            <a:off x="370750" y="370075"/>
            <a:ext cx="4609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f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Gestion des stock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099"/>
              <a:buNone/>
            </a:pPr>
            <a:r>
              <a:t/>
            </a:r>
            <a:endParaRPr b="1" sz="2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18"/>
          <p:cNvSpPr txBox="1"/>
          <p:nvPr>
            <p:ph idx="1" type="body"/>
          </p:nvPr>
        </p:nvSpPr>
        <p:spPr>
          <a:xfrm>
            <a:off x="357351" y="1089375"/>
            <a:ext cx="1665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Objectif 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Identifier les produits dont le stock est faible pour anticiper les ruptures et optimiser la gestion des approvisionnements.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317" name="Google Shape;317;p18"/>
          <p:cNvSpPr txBox="1"/>
          <p:nvPr>
            <p:ph idx="1" type="body"/>
          </p:nvPr>
        </p:nvSpPr>
        <p:spPr>
          <a:xfrm>
            <a:off x="2242475" y="1089375"/>
            <a:ext cx="26364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Pourquoi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Éviter les ruptures de stock et les surstocks.</a:t>
            </a:r>
            <a:br>
              <a:rPr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Améliorer la réactivité aux commandes.</a:t>
            </a:r>
            <a:br>
              <a:rPr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Optimiser le capital immobilisé dans les stocks</a:t>
            </a:r>
            <a:br>
              <a:rPr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Contribue à une gestion logistique fluide et rentable.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5298300" y="0"/>
            <a:ext cx="38457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 txBox="1"/>
          <p:nvPr>
            <p:ph type="title"/>
          </p:nvPr>
        </p:nvSpPr>
        <p:spPr>
          <a:xfrm>
            <a:off x="6154975" y="370075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KPI clés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18" title="Capture d’écran, le 2025-11-03 à 16.48.28.png"/>
          <p:cNvPicPr preferRelativeResize="0"/>
          <p:nvPr/>
        </p:nvPicPr>
        <p:blipFill rotWithShape="1">
          <a:blip r:embed="rId3">
            <a:alphaModFix/>
          </a:blip>
          <a:srcRect b="11447" l="5311" r="4517" t="21176"/>
          <a:stretch/>
        </p:blipFill>
        <p:spPr>
          <a:xfrm>
            <a:off x="142213" y="2571750"/>
            <a:ext cx="5066274" cy="235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8"/>
          <p:cNvSpPr txBox="1"/>
          <p:nvPr>
            <p:ph idx="1" type="body"/>
          </p:nvPr>
        </p:nvSpPr>
        <p:spPr>
          <a:xfrm>
            <a:off x="6154971" y="1100625"/>
            <a:ext cx="25779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Quantité de stock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Nombre total de produits disponibles à un instant T.</a:t>
            </a:r>
            <a:br>
              <a:rPr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Permet de suivre le niveau global et d’anticiper les besoins en réapprovisionnement.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Seuil critique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Niveau minimal de stock déclenchant </a:t>
            </a:r>
            <a:br>
              <a:rPr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une commande.</a:t>
            </a:r>
            <a:br>
              <a:rPr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Sert de repère pour éviter les ruptures.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Taux d’écoulement des stocks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Vitesse à laquelle les produits quittent le stock sur une période donnée. Indique la rotation des stocks et aide à ajuster le seuil critique.</a:t>
            </a:r>
            <a:br>
              <a:rPr lang="fr" sz="900">
                <a:solidFill>
                  <a:srgbClr val="0E3D6F"/>
                </a:solidFill>
              </a:rPr>
            </a:b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Stock prévisionnel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Estimation du niveau de stock futur selon le rythme d’écoulement.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5950638" y="1300225"/>
            <a:ext cx="1065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5950638" y="2449325"/>
            <a:ext cx="1065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5950638" y="3342500"/>
            <a:ext cx="1065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5950638" y="4262275"/>
            <a:ext cx="1065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"/>
          <p:cNvSpPr/>
          <p:nvPr/>
        </p:nvSpPr>
        <p:spPr>
          <a:xfrm>
            <a:off x="0" y="0"/>
            <a:ext cx="5298300" cy="2661300"/>
          </a:xfrm>
          <a:prstGeom prst="rect">
            <a:avLst/>
          </a:prstGeom>
          <a:solidFill>
            <a:srgbClr val="0E3D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9"/>
          <p:cNvSpPr txBox="1"/>
          <p:nvPr>
            <p:ph type="title"/>
          </p:nvPr>
        </p:nvSpPr>
        <p:spPr>
          <a:xfrm>
            <a:off x="370750" y="370075"/>
            <a:ext cx="4609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b="1" lang="fr" sz="20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Traitement &amp; délais de livraison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4099"/>
              <a:buNone/>
            </a:pPr>
            <a:r>
              <a:t/>
            </a:r>
            <a:endParaRPr b="1" sz="2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19"/>
          <p:cNvSpPr txBox="1"/>
          <p:nvPr>
            <p:ph idx="1" type="body"/>
          </p:nvPr>
        </p:nvSpPr>
        <p:spPr>
          <a:xfrm>
            <a:off x="357350" y="1089375"/>
            <a:ext cx="1953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Objectif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b="1"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Mesurer l’efficacité et la ponctualité du processus logistique, du traitement des commandes à leur livraison effective, afin d’optimiser la performance opérationnelle et la satisfaction client.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333" name="Google Shape;333;p19"/>
          <p:cNvSpPr txBox="1"/>
          <p:nvPr>
            <p:ph idx="1" type="body"/>
          </p:nvPr>
        </p:nvSpPr>
        <p:spPr>
          <a:xfrm>
            <a:off x="2612975" y="1089375"/>
            <a:ext cx="22659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chemeClr val="lt1"/>
                </a:solidFill>
              </a:rPr>
              <a:t>Pourquoi </a:t>
            </a:r>
            <a:br>
              <a:rPr b="1" lang="fr" sz="800">
                <a:solidFill>
                  <a:schemeClr val="lt1"/>
                </a:solidFill>
              </a:rPr>
            </a:br>
            <a:r>
              <a:rPr b="1" lang="fr" sz="800">
                <a:solidFill>
                  <a:schemeClr val="lt1"/>
                </a:solidFill>
              </a:rPr>
              <a:t>—------------------------</a:t>
            </a:r>
            <a:br>
              <a:rPr lang="fr" sz="800">
                <a:solidFill>
                  <a:schemeClr val="lt1"/>
                </a:solidFill>
              </a:rPr>
            </a:br>
            <a:r>
              <a:rPr lang="fr" sz="800">
                <a:solidFill>
                  <a:schemeClr val="lt1"/>
                </a:solidFill>
              </a:rPr>
              <a:t>Identifier les commandes dont le traitement est plus long que la moyenne, afin de détecter les cas problématiques (retards, ruptures, erreurs, lenteur commerciale, etc.).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SzPts val="1100"/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5298300" y="0"/>
            <a:ext cx="3845700" cy="5241300"/>
          </a:xfrm>
          <a:prstGeom prst="rect">
            <a:avLst/>
          </a:prstGeom>
          <a:solidFill>
            <a:srgbClr val="E1DCD5">
              <a:alpha val="2666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9"/>
          <p:cNvSpPr txBox="1"/>
          <p:nvPr>
            <p:ph type="title"/>
          </p:nvPr>
        </p:nvSpPr>
        <p:spPr>
          <a:xfrm>
            <a:off x="6154975" y="370075"/>
            <a:ext cx="2265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KPI clés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19"/>
          <p:cNvSpPr txBox="1"/>
          <p:nvPr>
            <p:ph idx="1" type="body"/>
          </p:nvPr>
        </p:nvSpPr>
        <p:spPr>
          <a:xfrm>
            <a:off x="6003875" y="1244175"/>
            <a:ext cx="2802300" cy="4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Délai de traitement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Temps écoulé entre la commande et l’expédition.</a:t>
            </a:r>
            <a:br>
              <a:rPr lang="fr" sz="8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Permet de suivre la rapidité du processus logistique.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Durée moyenne de traitement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Moyenne des délais observés sur une période donnée.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Commandes au-dessus de la moyenne</a:t>
            </a:r>
            <a:br>
              <a:rPr b="1" lang="fr" sz="900">
                <a:solidFill>
                  <a:srgbClr val="0E3D6F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Commandes dont le délai dépasse la moyenne globale.Sert à détecter les anomalies, retards ou goulots d’étranglement.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Commandes livrées</a:t>
            </a:r>
            <a:br>
              <a:rPr b="1" lang="fr" sz="900">
                <a:solidFill>
                  <a:srgbClr val="FF8612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Commandes effectivement expédiées ou livrées au client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FF8612"/>
                </a:solidFill>
              </a:rPr>
              <a:t>Date de livraison promise</a:t>
            </a:r>
            <a:br>
              <a:rPr b="1" lang="fr" sz="900">
                <a:solidFill>
                  <a:srgbClr val="FF8612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Délai initial demandé par le client, reflétant l’engagement commercial.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900">
                <a:solidFill>
                  <a:srgbClr val="FF8612"/>
                </a:solidFill>
              </a:rPr>
              <a:t>Taux de retard</a:t>
            </a:r>
            <a:br>
              <a:rPr b="1" lang="fr" sz="900">
                <a:solidFill>
                  <a:srgbClr val="FF8612"/>
                </a:solidFill>
              </a:rPr>
            </a:br>
            <a:r>
              <a:rPr lang="fr" sz="800">
                <a:solidFill>
                  <a:srgbClr val="0E3D6F"/>
                </a:solidFill>
              </a:rPr>
              <a:t>Part des commandes livrées après la date promise.</a:t>
            </a:r>
            <a:endParaRPr sz="8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5811725" y="1423300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5811725" y="1956075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5811725" y="2571738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5811725" y="3107325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5811725" y="3642888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5811725" y="4178475"/>
            <a:ext cx="129900" cy="277200"/>
          </a:xfrm>
          <a:prstGeom prst="chevron">
            <a:avLst>
              <a:gd fmla="val 50000" name="adj"/>
            </a:avLst>
          </a:prstGeom>
          <a:solidFill>
            <a:srgbClr val="FF86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19" title="Capture d’écran, le 2025-11-03 à 16.48.36.png"/>
          <p:cNvPicPr preferRelativeResize="0"/>
          <p:nvPr/>
        </p:nvPicPr>
        <p:blipFill rotWithShape="1">
          <a:blip r:embed="rId3">
            <a:alphaModFix/>
          </a:blip>
          <a:srcRect b="11804" l="4553" r="2698" t="26614"/>
          <a:stretch/>
        </p:blipFill>
        <p:spPr>
          <a:xfrm>
            <a:off x="46700" y="2785750"/>
            <a:ext cx="5135726" cy="212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DCD5">
            <a:alpha val="26666"/>
          </a:srgbClr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 txBox="1"/>
          <p:nvPr>
            <p:ph idx="4294967295" type="title"/>
          </p:nvPr>
        </p:nvSpPr>
        <p:spPr>
          <a:xfrm>
            <a:off x="6025650" y="1154675"/>
            <a:ext cx="2828400" cy="1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Direction le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endParaRPr b="1">
              <a:solidFill>
                <a:srgbClr val="FF86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9" name="Google Shape;349;p20" title="mocku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99750" y="-801625"/>
            <a:ext cx="8654551" cy="6490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825838">
            <a:off x="5841550" y="2181446"/>
            <a:ext cx="751551" cy="1001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"/>
          <p:cNvSpPr/>
          <p:nvPr/>
        </p:nvSpPr>
        <p:spPr>
          <a:xfrm>
            <a:off x="4679500" y="2065550"/>
            <a:ext cx="1899900" cy="2259000"/>
          </a:xfrm>
          <a:prstGeom prst="rect">
            <a:avLst/>
          </a:prstGeom>
          <a:solidFill>
            <a:srgbClr val="E1DCD5">
              <a:alpha val="26666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2638025" y="2065550"/>
            <a:ext cx="1899900" cy="2259000"/>
          </a:xfrm>
          <a:prstGeom prst="rect">
            <a:avLst/>
          </a:prstGeom>
          <a:solidFill>
            <a:srgbClr val="E1DCD5">
              <a:alpha val="26666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545200" y="2065550"/>
            <a:ext cx="1899900" cy="2259000"/>
          </a:xfrm>
          <a:prstGeom prst="rect">
            <a:avLst/>
          </a:prstGeom>
          <a:solidFill>
            <a:srgbClr val="E1DCD5">
              <a:alpha val="26666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1"/>
          <p:cNvSpPr txBox="1"/>
          <p:nvPr>
            <p:ph idx="1" type="body"/>
          </p:nvPr>
        </p:nvSpPr>
        <p:spPr>
          <a:xfrm>
            <a:off x="721715" y="2159200"/>
            <a:ext cx="1554300" cy="22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900">
                <a:solidFill>
                  <a:srgbClr val="0E3D6F"/>
                </a:solidFill>
              </a:rPr>
              <a:t>Objectifs à ajuster</a:t>
            </a:r>
            <a:r>
              <a:rPr lang="fr" sz="900">
                <a:solidFill>
                  <a:srgbClr val="0E3D6F"/>
                </a:solidFill>
              </a:rPr>
              <a:t> :</a:t>
            </a:r>
            <a:br>
              <a:rPr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Revoir les </a:t>
            </a:r>
            <a:r>
              <a:rPr b="1" lang="fr" sz="900">
                <a:solidFill>
                  <a:srgbClr val="0E3D6F"/>
                </a:solidFill>
              </a:rPr>
              <a:t>valeurs d’objectifs annuels</a:t>
            </a:r>
            <a:r>
              <a:rPr lang="fr" sz="900">
                <a:solidFill>
                  <a:srgbClr val="0E3D6F"/>
                </a:solidFill>
              </a:rPr>
              <a:t> pour s’assurer qu’elles reflètent les données réelles et actualisées de l’entreprise.</a:t>
            </a:r>
            <a:br>
              <a:rPr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Intégrer la </a:t>
            </a:r>
            <a:r>
              <a:rPr b="1" lang="fr" sz="900">
                <a:solidFill>
                  <a:srgbClr val="0E3D6F"/>
                </a:solidFill>
              </a:rPr>
              <a:t>répartition mensuelle ou trimestrielle</a:t>
            </a:r>
            <a:r>
              <a:rPr lang="fr" sz="900">
                <a:solidFill>
                  <a:srgbClr val="0E3D6F"/>
                </a:solidFill>
              </a:rPr>
              <a:t> des objectifs pour suivre la performance à plus court terme.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59" name="Google Shape;359;p21"/>
          <p:cNvSpPr txBox="1"/>
          <p:nvPr>
            <p:ph type="title"/>
          </p:nvPr>
        </p:nvSpPr>
        <p:spPr>
          <a:xfrm>
            <a:off x="2374900" y="475225"/>
            <a:ext cx="50586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En route vers la </a:t>
            </a:r>
            <a:r>
              <a:rPr b="1" lang="fr">
                <a:solidFill>
                  <a:srgbClr val="FF8612"/>
                </a:solidFill>
                <a:latin typeface="Montserrat"/>
                <a:ea typeface="Montserrat"/>
                <a:cs typeface="Montserrat"/>
                <a:sym typeface="Montserrat"/>
              </a:rPr>
              <a:t>V.2</a:t>
            </a:r>
            <a:r>
              <a:rPr b="1" lang="fr">
                <a:solidFill>
                  <a:srgbClr val="0E3D6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rgbClr val="0E3D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21"/>
          <p:cNvSpPr txBox="1"/>
          <p:nvPr>
            <p:ph idx="1" type="body"/>
          </p:nvPr>
        </p:nvSpPr>
        <p:spPr>
          <a:xfrm>
            <a:off x="4867725" y="2159200"/>
            <a:ext cx="15543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0E3D6F"/>
                </a:solidFill>
              </a:rPr>
              <a:t>Suivi régulier</a:t>
            </a:r>
            <a:r>
              <a:rPr lang="fr" sz="900">
                <a:solidFill>
                  <a:srgbClr val="0E3D6F"/>
                </a:solidFill>
              </a:rPr>
              <a:t> :</a:t>
            </a:r>
            <a:br>
              <a:rPr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Mettre en place une </a:t>
            </a:r>
            <a:r>
              <a:rPr b="1" lang="fr" sz="900">
                <a:solidFill>
                  <a:srgbClr val="0E3D6F"/>
                </a:solidFill>
              </a:rPr>
              <a:t>mise à jour hebdomadaire</a:t>
            </a:r>
            <a:r>
              <a:rPr lang="fr" sz="900">
                <a:solidFill>
                  <a:srgbClr val="0E3D6F"/>
                </a:solidFill>
              </a:rPr>
              <a:t> du niveau de stock pour un taux d’écoulement plus précis.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0E3D6F"/>
                </a:solidFill>
              </a:rPr>
              <a:t>Analyses à renforcer</a:t>
            </a:r>
            <a:r>
              <a:rPr lang="fr" sz="900">
                <a:solidFill>
                  <a:srgbClr val="0E3D6F"/>
                </a:solidFill>
              </a:rPr>
              <a:t>:</a:t>
            </a:r>
            <a:br>
              <a:rPr lang="fr" sz="900">
                <a:solidFill>
                  <a:srgbClr val="0E3D6F"/>
                </a:solidFill>
              </a:rPr>
            </a:br>
            <a:r>
              <a:rPr lang="fr" sz="900">
                <a:solidFill>
                  <a:srgbClr val="0E3D6F"/>
                </a:solidFill>
              </a:rPr>
              <a:t>Ajouter une </a:t>
            </a:r>
            <a:r>
              <a:rPr b="1" lang="fr" sz="900">
                <a:solidFill>
                  <a:srgbClr val="0E3D6F"/>
                </a:solidFill>
              </a:rPr>
              <a:t>alerte automatique</a:t>
            </a:r>
            <a:r>
              <a:rPr lang="fr" sz="900">
                <a:solidFill>
                  <a:srgbClr val="0E3D6F"/>
                </a:solidFill>
              </a:rPr>
              <a:t> en cas de stock sous seuil critique.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61" name="Google Shape;361;p21"/>
          <p:cNvSpPr txBox="1"/>
          <p:nvPr>
            <p:ph idx="1" type="body"/>
          </p:nvPr>
        </p:nvSpPr>
        <p:spPr>
          <a:xfrm>
            <a:off x="2873379" y="2159200"/>
            <a:ext cx="1554300" cy="24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fr" sz="900">
                <a:solidFill>
                  <a:srgbClr val="0E3D6F"/>
                </a:solidFill>
              </a:rPr>
              <a:t>Créer un </a:t>
            </a:r>
            <a:r>
              <a:rPr b="1" lang="fr" sz="900">
                <a:solidFill>
                  <a:srgbClr val="0E3D6F"/>
                </a:solidFill>
              </a:rPr>
              <a:t>dashboard de comparaison ventes / stocks</a:t>
            </a:r>
            <a:r>
              <a:rPr lang="fr" sz="900">
                <a:solidFill>
                  <a:srgbClr val="0E3D6F"/>
                </a:solidFill>
              </a:rPr>
              <a:t> pour identifier les produits en </a:t>
            </a:r>
            <a:r>
              <a:rPr b="1" lang="fr" sz="900">
                <a:solidFill>
                  <a:srgbClr val="0E3D6F"/>
                </a:solidFill>
              </a:rPr>
              <a:t>surstock</a:t>
            </a:r>
            <a:r>
              <a:rPr lang="fr" sz="900">
                <a:solidFill>
                  <a:srgbClr val="0E3D6F"/>
                </a:solidFill>
              </a:rPr>
              <a:t> et limiter le </a:t>
            </a:r>
            <a:r>
              <a:rPr b="1" lang="fr" sz="900">
                <a:solidFill>
                  <a:srgbClr val="0E3D6F"/>
                </a:solidFill>
              </a:rPr>
              <a:t>capital immobilisé</a:t>
            </a:r>
            <a:r>
              <a:rPr lang="fr" sz="900">
                <a:solidFill>
                  <a:srgbClr val="0E3D6F"/>
                </a:solidFill>
              </a:rPr>
              <a:t>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fr" sz="900">
                <a:solidFill>
                  <a:srgbClr val="0E3D6F"/>
                </a:solidFill>
              </a:rPr>
              <a:t>Étudier la </a:t>
            </a:r>
            <a:r>
              <a:rPr b="1" lang="fr" sz="900">
                <a:solidFill>
                  <a:srgbClr val="0E3D6F"/>
                </a:solidFill>
              </a:rPr>
              <a:t>saisonnalité des produits</a:t>
            </a:r>
            <a:r>
              <a:rPr lang="fr" sz="900">
                <a:solidFill>
                  <a:srgbClr val="0E3D6F"/>
                </a:solidFill>
              </a:rPr>
              <a:t> pour ajuster les niveaux de stock selon les périodes de forte ou faible demande.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6759600" y="2089050"/>
            <a:ext cx="1899900" cy="2214900"/>
          </a:xfrm>
          <a:prstGeom prst="rect">
            <a:avLst/>
          </a:prstGeom>
          <a:solidFill>
            <a:srgbClr val="E1DCD5">
              <a:alpha val="26666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1"/>
          <p:cNvSpPr txBox="1"/>
          <p:nvPr>
            <p:ph idx="1" type="body"/>
          </p:nvPr>
        </p:nvSpPr>
        <p:spPr>
          <a:xfrm>
            <a:off x="6981750" y="2159200"/>
            <a:ext cx="14232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" sz="900">
                <a:solidFill>
                  <a:srgbClr val="0E3D6F"/>
                </a:solidFill>
              </a:rPr>
              <a:t>Améliorer la lisibilité visuelle</a:t>
            </a:r>
            <a:r>
              <a:rPr lang="fr" sz="900">
                <a:solidFill>
                  <a:srgbClr val="0E3D6F"/>
                </a:solidFill>
              </a:rPr>
              <a:t> :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solidFill>
                  <a:srgbClr val="0E3D6F"/>
                </a:solidFill>
              </a:rPr>
              <a:t>Ajouter des </a:t>
            </a:r>
            <a:r>
              <a:rPr b="1" lang="fr" sz="900">
                <a:solidFill>
                  <a:srgbClr val="0E3D6F"/>
                </a:solidFill>
              </a:rPr>
              <a:t>pictogrammes, icônes et codes couleur</a:t>
            </a:r>
            <a:r>
              <a:rPr lang="fr" sz="900">
                <a:solidFill>
                  <a:srgbClr val="0E3D6F"/>
                </a:solidFill>
              </a:rPr>
              <a:t> pour identifier rapidement chaque KPI.</a:t>
            </a:r>
            <a:endParaRPr sz="9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E3D6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64" name="Google Shape;364;p21"/>
          <p:cNvSpPr txBox="1"/>
          <p:nvPr>
            <p:ph idx="1" type="body"/>
          </p:nvPr>
        </p:nvSpPr>
        <p:spPr>
          <a:xfrm>
            <a:off x="590750" y="1650075"/>
            <a:ext cx="1854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0E3D6F"/>
                </a:solidFill>
              </a:rPr>
              <a:t>Ventes</a:t>
            </a:r>
            <a:endParaRPr b="1" sz="12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65" name="Google Shape;365;p21"/>
          <p:cNvSpPr txBox="1"/>
          <p:nvPr>
            <p:ph idx="1" type="body"/>
          </p:nvPr>
        </p:nvSpPr>
        <p:spPr>
          <a:xfrm>
            <a:off x="2638025" y="1650070"/>
            <a:ext cx="189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0E3D6F"/>
                </a:solidFill>
              </a:rPr>
              <a:t>Ventes VS Logistique</a:t>
            </a:r>
            <a:endParaRPr b="1" sz="12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66" name="Google Shape;366;p21"/>
          <p:cNvSpPr txBox="1"/>
          <p:nvPr>
            <p:ph idx="1" type="body"/>
          </p:nvPr>
        </p:nvSpPr>
        <p:spPr>
          <a:xfrm>
            <a:off x="4708925" y="1650075"/>
            <a:ext cx="1854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0E3D6F"/>
                </a:solidFill>
              </a:rPr>
              <a:t>Logistique</a:t>
            </a:r>
            <a:endParaRPr b="1" sz="12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4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900">
              <a:solidFill>
                <a:srgbClr val="0E3D6F"/>
              </a:solidFill>
            </a:endParaRPr>
          </a:p>
        </p:txBody>
      </p:sp>
      <p:sp>
        <p:nvSpPr>
          <p:cNvPr id="367" name="Google Shape;367;p21"/>
          <p:cNvSpPr txBox="1"/>
          <p:nvPr>
            <p:ph idx="1" type="body"/>
          </p:nvPr>
        </p:nvSpPr>
        <p:spPr>
          <a:xfrm>
            <a:off x="6789600" y="1650075"/>
            <a:ext cx="1854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0E3D6F"/>
                </a:solidFill>
              </a:rPr>
              <a:t>UX Design</a:t>
            </a:r>
            <a:endParaRPr b="1" sz="1200">
              <a:solidFill>
                <a:srgbClr val="0E3D6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200">
              <a:solidFill>
                <a:srgbClr val="0E3D6F"/>
              </a:solidFill>
            </a:endParaRPr>
          </a:p>
        </p:txBody>
      </p:sp>
      <p:pic>
        <p:nvPicPr>
          <p:cNvPr id="368" name="Google Shape;3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4900" y="475223"/>
            <a:ext cx="601675" cy="58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D6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"/>
          <p:cNvSpPr txBox="1"/>
          <p:nvPr>
            <p:ph type="title"/>
          </p:nvPr>
        </p:nvSpPr>
        <p:spPr>
          <a:xfrm>
            <a:off x="2245950" y="1278550"/>
            <a:ext cx="4652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MERCI</a:t>
            </a:r>
            <a:endParaRPr b="1"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22"/>
          <p:cNvSpPr txBox="1"/>
          <p:nvPr>
            <p:ph type="title"/>
          </p:nvPr>
        </p:nvSpPr>
        <p:spPr>
          <a:xfrm>
            <a:off x="3125388" y="2704874"/>
            <a:ext cx="28932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1800">
                <a:solidFill>
                  <a:schemeClr val="lt1"/>
                </a:solidFill>
              </a:rPr>
              <a:t>VOTRE CONTACT : </a:t>
            </a:r>
            <a:br>
              <a:rPr b="1" lang="fr" sz="1800">
                <a:solidFill>
                  <a:schemeClr val="lt1"/>
                </a:solidFill>
              </a:rPr>
            </a:br>
            <a:r>
              <a:rPr b="1" lang="fr" sz="1400">
                <a:solidFill>
                  <a:schemeClr val="lt1"/>
                </a:solidFill>
              </a:rPr>
              <a:t>Gérard Sansnom</a:t>
            </a:r>
            <a:endParaRPr b="1" sz="1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520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info_gerard@ravi.com</a:t>
            </a:r>
            <a:br>
              <a:rPr lang="fr" sz="15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5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07.10.11.12.13</a:t>
            </a:r>
            <a:endParaRPr sz="15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52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5" name="Google Shape;375;p22"/>
          <p:cNvCxnSpPr/>
          <p:nvPr/>
        </p:nvCxnSpPr>
        <p:spPr>
          <a:xfrm>
            <a:off x="2143125" y="2397575"/>
            <a:ext cx="4842000" cy="0"/>
          </a:xfrm>
          <a:prstGeom prst="straightConnector1">
            <a:avLst/>
          </a:prstGeom>
          <a:noFill/>
          <a:ln cap="flat" cmpd="sng" w="38100">
            <a:solidFill>
              <a:srgbClr val="FF861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6" name="Google Shape;3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8550" y="1801774"/>
            <a:ext cx="1630750" cy="95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